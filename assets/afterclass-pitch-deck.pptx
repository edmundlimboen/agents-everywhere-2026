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one-liner: Afterclass is an AI teacher that lives inside Google Classroom. Not a chatbot in another tab. It shows up on the Classroom page a student already has open, reads the exact posts they pick, and teaches from those documents. Keep this slide up for under 15 seconds, then go straight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insight the whole project rests on. Google Classroom is where teachers post everything, but it is a feed, not a study space. Over a term one class piles up dozens of posts. The notes for a topic sit in one Classwork post, the worksheet in another, and the reminder about the test is buried in the Stream. Each attachment is a separate Drive or Docs tab. Classroom search cannot look inside a PDF. And nothing tells a student who fell behind what to do first or how long it will take. So the student ends up with ten tabs open, or gives up and asks a chatbot that has never seen what their teacher actually taught. That is what 'hard to find everything and centralise'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read the challenge. The brief says most agents wait in a separate chat window. A student's schoolwork already lives in Classroom, so that is where the teacher should be. Left column is the status quo: a chat tab that has no idea what was posted this week. Right column is Afterclass. Land the last line hard: it is a Chrome extension on the real classroom.google.com page. Teachers do not install anything or change how they post, and we never write back to Classroom.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student actually gets. Everything happens in one overlay that opens on top of the Classroom page, in the same tab. Six things to point at: pick posts and study them together; every explanation cites a passage you can click to open; the teaching loop adapts to your answers; Catch Up turns a time budget into a cited plan; on the whiteboard you can sketch and ask, and the tutor marks its answer in green next to your shapes without touching them; and Teach me at the whiteboard has the tutor build one diagram step by step as it teaches, like a teacher at a board. Mention the assignment workspace briefly if asked: it extracts requirements from the teacher's own instructions and reviews your draft without writing it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judges through the live demo in this order. If the demo is running on a laptop next to you, this slide is the map. Move four has two options: ask a question that needs both PDFs and click the citation, or draw a quick circuit on the Whiteboard tab, ask about it, and watch the tutor's green marks land beside your shapes. Move five is the one that matters: we answer the diagnostic wrong on purpose so the judges can see the tutor change what it does next, and see the plan reorder around the gap. If time allows, run the lesson with Teach me at the whiteboard so the diagram grows turn by turn. Finish by closing the overlay to prove we are still on the real Classroom page, then reopen to show the lesson resumed.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will ask whether the adaptation is real or a script. This slide is the answer. The same diagnostic gets two different answers. The wrong one must produce a reteach action with a named misconception and a citation. The right one must produce practice. This is not a suggestion to the model. The lesson is a state machine enforced on our server, and a reply that does not match the required transition is thrown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20 seconds unless asked. Top row is the path from the Classroom page to Google's APIs. The content script injects controls beside real posts. The service worker owns the Google token and nothing else touches it. The local API checks the signed-in student can actually read a post before fetching anything. Below is the agent layer. Catch Up runs four strict-JSON agents in sequence: a scout that summarises the selected posts, a reviewer that grades the answer, a planner whose steps must fit the time budget, and the tutor that teaches. Every note and step passes the same exact-quote citation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we differ from a wrapper around a chat model. Six rules, all enforced in code, all in the repo. Citations are verified as exact substrings. The lesson state machine lives on the server. The reviewer and tutor must agree or the turn is dropped. Plans cannot exceed the student's time. We only ask for read-only Google scopes and never write to Classroom. Every document we read is treated as untrusted data, so a note cannot hijack the tutor. The same applies on the whiteboard: the tutor can only point at shapes the student actually drew, the server rejects any other target, and it can never move or delete a student's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scope. Today it is a student-installed extension proven on one topic with real teacher PDFs. Next is distribution through a teacher-installed add-on, more subjects, evidence teachers can see with consent, and the pocket moments the brief talks about. We deliberately left out grading, turn-in and dashboards so that Classroom stays exactly as the teacher left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tagline and the ask: come try it on a real class. Repo is public. Then invite questions. Likely ones: how do you stop hallucinated citations (exact-substring check), what data do you store (lessons, plans, evidence, locally, read-only scopes), and what happens when a file is not readable (we name it and continue with the readable subset).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3A44"/>
        </a:solidFill>
      </p:bgPr>
    </p:bg>
    <p:spTree>
      <p:nvGrpSpPr>
        <p:cNvPr id="1" name=""/>
        <p:cNvGrpSpPr/>
        <p:nvPr/>
      </p:nvGrpSpPr>
      <p:grpSpPr>
        <a:xfrm>
          <a:off x="0" y="0"/>
          <a:ext cx="0" cy="0"/>
          <a:chOff x="0" y="0"/>
          <a:chExt cx="0" cy="0"/>
        </a:xfrm>
      </p:grpSpPr>
      <p:pic>
        <p:nvPicPr>
          <p:cNvPr id="2" name="Image 0" descr="/Users/chaipinzheng/Dev/agents-everywhere-2026/.claude/worktrees/agent-integration-slides-f8af74/assets/afterclass/learning-hero.png">    </p:cNvPr>
          <p:cNvPicPr>
            <a:picLocks noChangeAspect="1"/>
          </p:cNvPicPr>
          <p:nvPr/>
        </p:nvPicPr>
        <p:blipFill>
          <a:blip r:embed="rId1"/>
          <a:srcRect l="0" r="0" t="0" b="0"/>
          <a:stretch/>
        </p:blipFill>
        <p:spPr>
          <a:xfrm>
            <a:off x="5029200" y="0"/>
            <a:ext cx="4114800" cy="5143500"/>
          </a:xfrm>
          <a:prstGeom prst="rect">
            <a:avLst/>
          </a:prstGeom>
        </p:spPr>
      </p:pic>
      <p:sp>
        <p:nvSpPr>
          <p:cNvPr id="3" name="Shape 0"/>
          <p:cNvSpPr/>
          <p:nvPr/>
        </p:nvSpPr>
        <p:spPr>
          <a:xfrm>
            <a:off x="548640" y="548640"/>
            <a:ext cx="658368" cy="658368"/>
          </a:xfrm>
          <a:prstGeom prst="roundRect">
            <a:avLst>
              <a:gd name="adj" fmla="val 18000"/>
            </a:avLst>
          </a:prstGeom>
          <a:solidFill>
            <a:srgbClr val="FCFAF4"/>
          </a:solidFill>
          <a:ln w="12700">
            <a:solidFill>
              <a:srgbClr val="FCFAF4"/>
            </a:solidFill>
            <a:prstDash val="solid"/>
          </a:ln>
        </p:spPr>
      </p:sp>
      <p:pic>
        <p:nvPicPr>
          <p:cNvPr id="4" name="Image 1" descr="/Users/chaipinzheng/Dev/agents-everywhere-2026/.claude/worktrees/agent-integration-slides-f8af74/assets/devpost/afterclass-icon.png">    </p:cNvPr>
          <p:cNvPicPr>
            <a:picLocks noChangeAspect="1"/>
          </p:cNvPicPr>
          <p:nvPr/>
        </p:nvPicPr>
        <p:blipFill>
          <a:blip r:embed="rId2"/>
          <a:stretch>
            <a:fillRect/>
          </a:stretch>
        </p:blipFill>
        <p:spPr>
          <a:xfrm>
            <a:off x="627644" y="627644"/>
            <a:ext cx="500360" cy="500360"/>
          </a:xfrm>
          <a:prstGeom prst="rect">
            <a:avLst/>
          </a:prstGeom>
        </p:spPr>
      </p:pic>
      <p:sp>
        <p:nvSpPr>
          <p:cNvPr id="5" name="Text 1"/>
          <p:cNvSpPr txBox="1"/>
          <p:nvPr/>
        </p:nvSpPr>
        <p:spPr>
          <a:xfrm>
            <a:off x="1371600" y="548640"/>
            <a:ext cx="3291840" cy="658368"/>
          </a:xfrm>
          <a:prstGeom prst="rect">
            <a:avLst/>
          </a:prstGeom>
          <a:noFill/>
          <a:ln/>
        </p:spPr>
        <p:txBody>
          <a:bodyPr wrap="square" lIns="0" tIns="0" rIns="0" bIns="0" rtlCol="0" anchor="ctr"/>
          <a:lstStyle/>
          <a:p>
            <a:pPr indent="0" marL="0">
              <a:buNone/>
            </a:pPr>
            <a:r>
              <a:rPr lang="en-US" sz="3000" dirty="0">
                <a:solidFill>
                  <a:srgbClr val="FCFAF4"/>
                </a:solidFill>
                <a:latin typeface="Georgia" pitchFamily="34" charset="0"/>
                <a:ea typeface="Georgia" pitchFamily="34" charset="-122"/>
                <a:cs typeface="Georgia" pitchFamily="34" charset="-120"/>
              </a:rPr>
              <a:t>Afterclass</a:t>
            </a:r>
            <a:endParaRPr lang="en-US" sz="3000" dirty="0"/>
          </a:p>
        </p:txBody>
      </p:sp>
      <p:sp>
        <p:nvSpPr>
          <p:cNvPr id="6" name="Text 2"/>
          <p:cNvSpPr txBox="1"/>
          <p:nvPr/>
        </p:nvSpPr>
        <p:spPr>
          <a:xfrm>
            <a:off x="548640" y="1600200"/>
            <a:ext cx="4114800" cy="1554480"/>
          </a:xfrm>
          <a:prstGeom prst="rect">
            <a:avLst/>
          </a:prstGeom>
          <a:noFill/>
          <a:ln/>
        </p:spPr>
        <p:txBody>
          <a:bodyPr wrap="square" lIns="0" tIns="0" rIns="0" bIns="0" rtlCol="0" anchor="t"/>
          <a:lstStyle/>
          <a:p>
            <a:pPr indent="0" marL="0">
              <a:buNone/>
            </a:pPr>
            <a:r>
              <a:rPr lang="en-US" sz="3000" dirty="0">
                <a:solidFill>
                  <a:srgbClr val="FCFAF4"/>
                </a:solidFill>
                <a:latin typeface="Georgia" pitchFamily="34" charset="0"/>
                <a:ea typeface="Georgia" pitchFamily="34" charset="-122"/>
                <a:cs typeface="Georgia" pitchFamily="34" charset="-120"/>
              </a:rPr>
              <a:t>An AI teacher that lives inside Google Classroom.</a:t>
            </a:r>
            <a:endParaRPr lang="en-US" sz="3000" dirty="0"/>
          </a:p>
        </p:txBody>
      </p:sp>
      <p:sp>
        <p:nvSpPr>
          <p:cNvPr id="7" name="Text 3"/>
          <p:cNvSpPr txBox="1"/>
          <p:nvPr/>
        </p:nvSpPr>
        <p:spPr>
          <a:xfrm>
            <a:off x="548640" y="3246120"/>
            <a:ext cx="4114800" cy="365760"/>
          </a:xfrm>
          <a:prstGeom prst="rect">
            <a:avLst/>
          </a:prstGeom>
          <a:noFill/>
          <a:ln/>
        </p:spPr>
        <p:txBody>
          <a:bodyPr wrap="square" lIns="0" tIns="0" rIns="0" bIns="0" rtlCol="0" anchor="t"/>
          <a:lstStyle/>
          <a:p>
            <a:pPr indent="0" marL="0">
              <a:buNone/>
            </a:pPr>
            <a:r>
              <a:rPr lang="en-US" sz="1500" i="1" dirty="0">
                <a:solidFill>
                  <a:srgbClr val="AD762E"/>
                </a:solidFill>
                <a:latin typeface="Calibri" pitchFamily="34" charset="0"/>
                <a:ea typeface="Calibri" pitchFamily="34" charset="-122"/>
                <a:cs typeface="Calibri" pitchFamily="34" charset="-120"/>
              </a:rPr>
              <a:t>Your notes. Your pace. Your next breakthrough.</a:t>
            </a:r>
            <a:endParaRPr lang="en-US" sz="1500" dirty="0"/>
          </a:p>
        </p:txBody>
      </p:sp>
      <p:sp>
        <p:nvSpPr>
          <p:cNvPr id="8" name="Text 4"/>
          <p:cNvSpPr txBox="1"/>
          <p:nvPr/>
        </p:nvSpPr>
        <p:spPr>
          <a:xfrm>
            <a:off x="548640" y="4160520"/>
            <a:ext cx="4114800" cy="548640"/>
          </a:xfrm>
          <a:prstGeom prst="rect">
            <a:avLst/>
          </a:prstGeom>
          <a:noFill/>
          <a:ln/>
        </p:spPr>
        <p:txBody>
          <a:bodyPr wrap="square" lIns="0" tIns="0" rIns="0" bIns="0" rtlCol="0" anchor="t"/>
          <a:lstStyle/>
          <a:p>
            <a:pPr indent="0" marL="0">
              <a:spcAft>
                <a:spcPts val="200"/>
              </a:spcAft>
              <a:buNone/>
            </a:pPr>
            <a:r>
              <a:rPr lang="en-US" sz="1150" dirty="0">
                <a:solidFill>
                  <a:srgbClr val="E9EDDF"/>
                </a:solidFill>
                <a:latin typeface="Calibri" pitchFamily="34" charset="0"/>
                <a:ea typeface="Calibri" pitchFamily="34" charset="-122"/>
                <a:cs typeface="Calibri" pitchFamily="34" charset="-120"/>
              </a:rPr>
              <a:t>Agents, Everywhere · Global Hackathon</a:t>
            </a:r>
            <a:endParaRPr lang="en-US" sz="1150" dirty="0"/>
          </a:p>
          <a:p>
            <a:pPr indent="0" marL="0">
              <a:spcAft>
                <a:spcPts val="200"/>
              </a:spcAft>
              <a:buNone/>
            </a:pPr>
            <a:r>
              <a:rPr lang="en-US" sz="1150" dirty="0">
                <a:solidFill>
                  <a:srgbClr val="E9EDDF"/>
                </a:solidFill>
                <a:latin typeface="Calibri" pitchFamily="34" charset="0"/>
                <a:ea typeface="Calibri" pitchFamily="34" charset="-122"/>
                <a:cs typeface="Calibri" pitchFamily="34" charset="-120"/>
              </a:rPr>
              <a:t>Singapore · 12 September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AF4"/>
        </a:solidFill>
      </p:bgPr>
    </p:bg>
    <p:spTree>
      <p:nvGrpSpPr>
        <p:cNvPr id="1" name=""/>
        <p:cNvGrpSpPr/>
        <p:nvPr/>
      </p:nvGrpSpPr>
      <p:grpSpPr>
        <a:xfrm>
          <a:off x="0" y="0"/>
          <a:ext cx="0" cy="0"/>
          <a:chOff x="0" y="0"/>
          <a:chExt cx="0" cy="0"/>
        </a:xfrm>
      </p:grpSpPr>
      <p:pic>
        <p:nvPicPr>
          <p:cNvPr id="2" name="Image 0" descr="/Users/chaipinzheng/Dev/agents-everywhere-2026/.claude/worktrees/agent-integration-slides-f8af74/assets/devpost/afterclass-icon.png">    </p:cNvPr>
          <p:cNvPicPr>
            <a:picLocks noChangeAspect="1"/>
          </p:cNvPicPr>
          <p:nvPr/>
        </p:nvPicPr>
        <p:blipFill>
          <a:blip r:embed="rId1"/>
          <a:stretch>
            <a:fillRect/>
          </a:stretch>
        </p:blipFill>
        <p:spPr>
          <a:xfrm>
            <a:off x="457200" y="4690872"/>
            <a:ext cx="256032" cy="256032"/>
          </a:xfrm>
          <a:prstGeom prst="rect">
            <a:avLst/>
          </a:prstGeom>
        </p:spPr>
      </p:pic>
      <p:sp>
        <p:nvSpPr>
          <p:cNvPr id="3" name="Text 0"/>
          <p:cNvSpPr txBox="1"/>
          <p:nvPr/>
        </p:nvSpPr>
        <p:spPr>
          <a:xfrm>
            <a:off x="777240" y="4690872"/>
            <a:ext cx="1828800" cy="256032"/>
          </a:xfrm>
          <a:prstGeom prst="rect">
            <a:avLst/>
          </a:prstGeom>
          <a:noFill/>
          <a:ln/>
        </p:spPr>
        <p:txBody>
          <a:bodyPr wrap="square" lIns="0" tIns="0" rIns="0" bIns="0" rtlCol="0" anchor="ctr"/>
          <a:lstStyle/>
          <a:p>
            <a:pPr indent="0" marL="0">
              <a:buNone/>
            </a:pPr>
            <a:r>
              <a:rPr lang="en-US" sz="900" dirty="0">
                <a:solidFill>
                  <a:srgbClr val="5F6F76"/>
                </a:solidFill>
                <a:latin typeface="Calibri" pitchFamily="34" charset="0"/>
                <a:ea typeface="Calibri" pitchFamily="34" charset="-122"/>
                <a:cs typeface="Calibri" pitchFamily="34" charset="-120"/>
              </a:rPr>
              <a:t>Afterclass</a:t>
            </a:r>
            <a:endParaRPr lang="en-US" sz="900" dirty="0"/>
          </a:p>
        </p:txBody>
      </p:sp>
      <p:sp>
        <p:nvSpPr>
          <p:cNvPr id="4" name="Text 1"/>
          <p:cNvSpPr txBox="1"/>
          <p:nvPr/>
        </p:nvSpPr>
        <p:spPr>
          <a:xfrm>
            <a:off x="7955280" y="4690872"/>
            <a:ext cx="731520" cy="256032"/>
          </a:xfrm>
          <a:prstGeom prst="rect">
            <a:avLst/>
          </a:prstGeom>
          <a:noFill/>
          <a:ln/>
        </p:spPr>
        <p:txBody>
          <a:bodyPr wrap="square" lIns="0" tIns="0" rIns="0" bIns="0" rtlCol="0" anchor="ctr"/>
          <a:lstStyle/>
          <a:p>
            <a:pPr algn="r" indent="0" marL="0">
              <a:buNone/>
            </a:pPr>
            <a:r>
              <a:rPr lang="en-US" sz="900" dirty="0">
                <a:solidFill>
                  <a:srgbClr val="5F6F76"/>
                </a:solidFill>
                <a:latin typeface="Calibri" pitchFamily="34" charset="0"/>
                <a:ea typeface="Calibri" pitchFamily="34" charset="-122"/>
                <a:cs typeface="Calibri" pitchFamily="34" charset="-120"/>
              </a:rPr>
              <a:t>02</a:t>
            </a:r>
            <a:endParaRPr lang="en-US" sz="900" dirty="0"/>
          </a:p>
        </p:txBody>
      </p:sp>
      <p:sp>
        <p:nvSpPr>
          <p:cNvPr id="5" name="Text 2"/>
          <p:cNvSpPr txBox="1"/>
          <p:nvPr/>
        </p:nvSpPr>
        <p:spPr>
          <a:xfrm>
            <a:off x="457200" y="384048"/>
            <a:ext cx="8229600" cy="685800"/>
          </a:xfrm>
          <a:prstGeom prst="rect">
            <a:avLst/>
          </a:prstGeom>
          <a:noFill/>
          <a:ln/>
        </p:spPr>
        <p:txBody>
          <a:bodyPr wrap="square" lIns="0" tIns="0" rIns="0" bIns="0" rtlCol="0" anchor="ctr"/>
          <a:lstStyle/>
          <a:p>
            <a:pPr indent="0" marL="0">
              <a:buNone/>
            </a:pPr>
            <a:r>
              <a:rPr lang="en-US" sz="2800" dirty="0">
                <a:solidFill>
                  <a:srgbClr val="203A44"/>
                </a:solidFill>
                <a:latin typeface="Georgia" pitchFamily="34" charset="0"/>
                <a:ea typeface="Georgia" pitchFamily="34" charset="-122"/>
                <a:cs typeface="Georgia" pitchFamily="34" charset="-120"/>
              </a:rPr>
              <a:t>Everything is in Classroom. Nothing is together.</a:t>
            </a:r>
            <a:endParaRPr lang="en-US" sz="2800" dirty="0"/>
          </a:p>
        </p:txBody>
      </p:sp>
      <p:sp>
        <p:nvSpPr>
          <p:cNvPr id="6" name="Shape 3"/>
          <p:cNvSpPr/>
          <p:nvPr/>
        </p:nvSpPr>
        <p:spPr>
          <a:xfrm>
            <a:off x="457200" y="1325880"/>
            <a:ext cx="457200" cy="457200"/>
          </a:xfrm>
          <a:prstGeom prst="ellipse">
            <a:avLst/>
          </a:prstGeom>
          <a:solidFill>
            <a:srgbClr val="E9EDDF"/>
          </a:solidFill>
          <a:ln w="12700">
            <a:solidFill>
              <a:srgbClr val="E9EDDF"/>
            </a:solidFill>
            <a:prstDash val="solid"/>
          </a:ln>
        </p:spPr>
      </p:sp>
      <p:pic>
        <p:nvPicPr>
          <p:cNvPr id="7" name="Image 1" descr="preencoded.png">    </p:cNvPr>
          <p:cNvPicPr>
            <a:picLocks noChangeAspect="1"/>
          </p:cNvPicPr>
          <p:nvPr/>
        </p:nvPicPr>
        <p:blipFill>
          <a:blip r:embed="rId2"/>
          <a:stretch>
            <a:fillRect/>
          </a:stretch>
        </p:blipFill>
        <p:spPr>
          <a:xfrm>
            <a:off x="576072" y="1444752"/>
            <a:ext cx="219456" cy="219456"/>
          </a:xfrm>
          <a:prstGeom prst="rect">
            <a:avLst/>
          </a:prstGeom>
        </p:spPr>
      </p:pic>
      <p:sp>
        <p:nvSpPr>
          <p:cNvPr id="8" name="Text 4"/>
          <p:cNvSpPr txBox="1"/>
          <p:nvPr/>
        </p:nvSpPr>
        <p:spPr>
          <a:xfrm>
            <a:off x="1051560" y="1307592"/>
            <a:ext cx="3291840" cy="274320"/>
          </a:xfrm>
          <a:prstGeom prst="rect">
            <a:avLst/>
          </a:prstGeom>
          <a:noFill/>
          <a:ln/>
        </p:spPr>
        <p:txBody>
          <a:bodyPr wrap="square" lIns="0" tIns="0" rIns="0" bIns="0" rtlCol="0" anchor="t"/>
          <a:lstStyle/>
          <a:p>
            <a:pPr indent="0" marL="0">
              <a:buNone/>
            </a:pPr>
            <a:r>
              <a:rPr lang="en-US" sz="1500" b="1" dirty="0">
                <a:solidFill>
                  <a:srgbClr val="203A44"/>
                </a:solidFill>
                <a:latin typeface="Calibri" pitchFamily="34" charset="0"/>
                <a:ea typeface="Calibri" pitchFamily="34" charset="-122"/>
                <a:cs typeface="Calibri" pitchFamily="34" charset="-120"/>
              </a:rPr>
              <a:t>Scattered across posts</a:t>
            </a:r>
            <a:endParaRPr lang="en-US" sz="1500" dirty="0"/>
          </a:p>
        </p:txBody>
      </p:sp>
      <p:sp>
        <p:nvSpPr>
          <p:cNvPr id="9" name="Text 5"/>
          <p:cNvSpPr txBox="1"/>
          <p:nvPr/>
        </p:nvSpPr>
        <p:spPr>
          <a:xfrm>
            <a:off x="1051560" y="1600200"/>
            <a:ext cx="3291840" cy="457200"/>
          </a:xfrm>
          <a:prstGeom prst="rect">
            <a:avLst/>
          </a:prstGeom>
          <a:noFill/>
          <a:ln/>
        </p:spPr>
        <p:txBody>
          <a:bodyPr wrap="square" lIns="0" tIns="0" rIns="0" bIns="0" rtlCol="0" anchor="t"/>
          <a:lstStyle/>
          <a:p>
            <a:pPr indent="0" marL="0">
              <a:buNone/>
            </a:pPr>
            <a:r>
              <a:rPr lang="en-US" sz="1200" dirty="0">
                <a:solidFill>
                  <a:srgbClr val="5F6F76"/>
                </a:solidFill>
                <a:latin typeface="Calibri" pitchFamily="34" charset="0"/>
                <a:ea typeface="Calibri" pitchFamily="34" charset="-122"/>
                <a:cs typeface="Calibri" pitchFamily="34" charset="-120"/>
              </a:rPr>
              <a:t>Notes here, worksheet there, test date in the Stream.</a:t>
            </a:r>
            <a:endParaRPr lang="en-US" sz="1200" dirty="0"/>
          </a:p>
        </p:txBody>
      </p:sp>
      <p:sp>
        <p:nvSpPr>
          <p:cNvPr id="10" name="Shape 6"/>
          <p:cNvSpPr/>
          <p:nvPr/>
        </p:nvSpPr>
        <p:spPr>
          <a:xfrm>
            <a:off x="457200" y="2194560"/>
            <a:ext cx="457200" cy="457200"/>
          </a:xfrm>
          <a:prstGeom prst="ellipse">
            <a:avLst/>
          </a:prstGeom>
          <a:solidFill>
            <a:srgbClr val="E9EDDF"/>
          </a:solidFill>
          <a:ln w="12700">
            <a:solidFill>
              <a:srgbClr val="E9EDDF"/>
            </a:solidFill>
            <a:prstDash val="solid"/>
          </a:ln>
        </p:spPr>
      </p:sp>
      <p:pic>
        <p:nvPicPr>
          <p:cNvPr id="11" name="Image 2" descr="preencoded.png">    </p:cNvPr>
          <p:cNvPicPr>
            <a:picLocks noChangeAspect="1"/>
          </p:cNvPicPr>
          <p:nvPr/>
        </p:nvPicPr>
        <p:blipFill>
          <a:blip r:embed="rId3"/>
          <a:stretch>
            <a:fillRect/>
          </a:stretch>
        </p:blipFill>
        <p:spPr>
          <a:xfrm>
            <a:off x="576072" y="2313432"/>
            <a:ext cx="219456" cy="219456"/>
          </a:xfrm>
          <a:prstGeom prst="rect">
            <a:avLst/>
          </a:prstGeom>
        </p:spPr>
      </p:pic>
      <p:sp>
        <p:nvSpPr>
          <p:cNvPr id="12" name="Text 7"/>
          <p:cNvSpPr txBox="1"/>
          <p:nvPr/>
        </p:nvSpPr>
        <p:spPr>
          <a:xfrm>
            <a:off x="1051560" y="2176272"/>
            <a:ext cx="3291840" cy="274320"/>
          </a:xfrm>
          <a:prstGeom prst="rect">
            <a:avLst/>
          </a:prstGeom>
          <a:noFill/>
          <a:ln/>
        </p:spPr>
        <p:txBody>
          <a:bodyPr wrap="square" lIns="0" tIns="0" rIns="0" bIns="0" rtlCol="0" anchor="t"/>
          <a:lstStyle/>
          <a:p>
            <a:pPr indent="0" marL="0">
              <a:buNone/>
            </a:pPr>
            <a:r>
              <a:rPr lang="en-US" sz="1500" b="1" dirty="0">
                <a:solidFill>
                  <a:srgbClr val="203A44"/>
                </a:solidFill>
                <a:latin typeface="Calibri" pitchFamily="34" charset="0"/>
                <a:ea typeface="Calibri" pitchFamily="34" charset="-122"/>
                <a:cs typeface="Calibri" pitchFamily="34" charset="-120"/>
              </a:rPr>
              <a:t>No search inside files</a:t>
            </a:r>
            <a:endParaRPr lang="en-US" sz="1500" dirty="0"/>
          </a:p>
        </p:txBody>
      </p:sp>
      <p:sp>
        <p:nvSpPr>
          <p:cNvPr id="13" name="Text 8"/>
          <p:cNvSpPr txBox="1"/>
          <p:nvPr/>
        </p:nvSpPr>
        <p:spPr>
          <a:xfrm>
            <a:off x="1051560" y="2468880"/>
            <a:ext cx="3291840" cy="457200"/>
          </a:xfrm>
          <a:prstGeom prst="rect">
            <a:avLst/>
          </a:prstGeom>
          <a:noFill/>
          <a:ln/>
        </p:spPr>
        <p:txBody>
          <a:bodyPr wrap="square" lIns="0" tIns="0" rIns="0" bIns="0" rtlCol="0" anchor="t"/>
          <a:lstStyle/>
          <a:p>
            <a:pPr indent="0" marL="0">
              <a:buNone/>
            </a:pPr>
            <a:r>
              <a:rPr lang="en-US" sz="1200" dirty="0">
                <a:solidFill>
                  <a:srgbClr val="5F6F76"/>
                </a:solidFill>
                <a:latin typeface="Calibri" pitchFamily="34" charset="0"/>
                <a:ea typeface="Calibri" pitchFamily="34" charset="-122"/>
                <a:cs typeface="Calibri" pitchFamily="34" charset="-120"/>
              </a:rPr>
              <a:t>Classroom cannot read a PDF.</a:t>
            </a:r>
            <a:endParaRPr lang="en-US" sz="1200" dirty="0"/>
          </a:p>
        </p:txBody>
      </p:sp>
      <p:sp>
        <p:nvSpPr>
          <p:cNvPr id="14" name="Shape 9"/>
          <p:cNvSpPr/>
          <p:nvPr/>
        </p:nvSpPr>
        <p:spPr>
          <a:xfrm>
            <a:off x="457200" y="3063240"/>
            <a:ext cx="457200" cy="457200"/>
          </a:xfrm>
          <a:prstGeom prst="ellipse">
            <a:avLst/>
          </a:prstGeom>
          <a:solidFill>
            <a:srgbClr val="E9EDDF"/>
          </a:solidFill>
          <a:ln w="12700">
            <a:solidFill>
              <a:srgbClr val="E9EDDF"/>
            </a:solidFill>
            <a:prstDash val="solid"/>
          </a:ln>
        </p:spPr>
      </p:sp>
      <p:pic>
        <p:nvPicPr>
          <p:cNvPr id="15" name="Image 3" descr="preencoded.png">    </p:cNvPr>
          <p:cNvPicPr>
            <a:picLocks noChangeAspect="1"/>
          </p:cNvPicPr>
          <p:nvPr/>
        </p:nvPicPr>
        <p:blipFill>
          <a:blip r:embed="rId4"/>
          <a:stretch>
            <a:fillRect/>
          </a:stretch>
        </p:blipFill>
        <p:spPr>
          <a:xfrm>
            <a:off x="576072" y="3182112"/>
            <a:ext cx="219456" cy="219456"/>
          </a:xfrm>
          <a:prstGeom prst="rect">
            <a:avLst/>
          </a:prstGeom>
        </p:spPr>
      </p:pic>
      <p:sp>
        <p:nvSpPr>
          <p:cNvPr id="16" name="Text 10"/>
          <p:cNvSpPr txBox="1"/>
          <p:nvPr/>
        </p:nvSpPr>
        <p:spPr>
          <a:xfrm>
            <a:off x="1051560" y="3044952"/>
            <a:ext cx="3291840" cy="274320"/>
          </a:xfrm>
          <a:prstGeom prst="rect">
            <a:avLst/>
          </a:prstGeom>
          <a:noFill/>
          <a:ln/>
        </p:spPr>
        <p:txBody>
          <a:bodyPr wrap="square" lIns="0" tIns="0" rIns="0" bIns="0" rtlCol="0" anchor="t"/>
          <a:lstStyle/>
          <a:p>
            <a:pPr indent="0" marL="0">
              <a:buNone/>
            </a:pPr>
            <a:r>
              <a:rPr lang="en-US" sz="1500" b="1" dirty="0">
                <a:solidFill>
                  <a:srgbClr val="203A44"/>
                </a:solidFill>
                <a:latin typeface="Calibri" pitchFamily="34" charset="0"/>
                <a:ea typeface="Calibri" pitchFamily="34" charset="-122"/>
                <a:cs typeface="Calibri" pitchFamily="34" charset="-120"/>
              </a:rPr>
              <a:t>No sense of what comes first</a:t>
            </a:r>
            <a:endParaRPr lang="en-US" sz="1500" dirty="0"/>
          </a:p>
        </p:txBody>
      </p:sp>
      <p:sp>
        <p:nvSpPr>
          <p:cNvPr id="17" name="Text 11"/>
          <p:cNvSpPr txBox="1"/>
          <p:nvPr/>
        </p:nvSpPr>
        <p:spPr>
          <a:xfrm>
            <a:off x="1051560" y="3337560"/>
            <a:ext cx="3291840" cy="457200"/>
          </a:xfrm>
          <a:prstGeom prst="rect">
            <a:avLst/>
          </a:prstGeom>
          <a:noFill/>
          <a:ln/>
        </p:spPr>
        <p:txBody>
          <a:bodyPr wrap="square" lIns="0" tIns="0" rIns="0" bIns="0" rtlCol="0" anchor="t"/>
          <a:lstStyle/>
          <a:p>
            <a:pPr indent="0" marL="0">
              <a:buNone/>
            </a:pPr>
            <a:r>
              <a:rPr lang="en-US" sz="1200" dirty="0">
                <a:solidFill>
                  <a:srgbClr val="5F6F76"/>
                </a:solidFill>
                <a:latin typeface="Calibri" pitchFamily="34" charset="0"/>
                <a:ea typeface="Calibri" pitchFamily="34" charset="-122"/>
                <a:cs typeface="Calibri" pitchFamily="34" charset="-120"/>
              </a:rPr>
              <a:t>Behind? Nothing tells you where to start.</a:t>
            </a:r>
            <a:endParaRPr lang="en-US" sz="1200" dirty="0"/>
          </a:p>
        </p:txBody>
      </p:sp>
      <p:sp>
        <p:nvSpPr>
          <p:cNvPr id="18" name="Text 12"/>
          <p:cNvSpPr txBox="1"/>
          <p:nvPr/>
        </p:nvSpPr>
        <p:spPr>
          <a:xfrm>
            <a:off x="457200" y="3931920"/>
            <a:ext cx="3886200" cy="548640"/>
          </a:xfrm>
          <a:prstGeom prst="rect">
            <a:avLst/>
          </a:prstGeom>
          <a:noFill/>
          <a:ln/>
        </p:spPr>
        <p:txBody>
          <a:bodyPr wrap="square" lIns="0" tIns="0" rIns="0" bIns="0" rtlCol="0" anchor="t"/>
          <a:lstStyle/>
          <a:p>
            <a:pPr indent="0" marL="0">
              <a:buNone/>
            </a:pPr>
            <a:r>
              <a:rPr lang="en-US" sz="1300" i="1" dirty="0">
                <a:solidFill>
                  <a:srgbClr val="203A44"/>
                </a:solidFill>
                <a:latin typeface="Calibri" pitchFamily="34" charset="0"/>
                <a:ea typeface="Calibri" pitchFamily="34" charset="-122"/>
                <a:cs typeface="Calibri" pitchFamily="34" charset="-120"/>
              </a:rPr>
              <a:t>So students open a chat tab that has never seen their notes.</a:t>
            </a:r>
            <a:endParaRPr lang="en-US" sz="1300" dirty="0"/>
          </a:p>
        </p:txBody>
      </p:sp>
      <p:sp>
        <p:nvSpPr>
          <p:cNvPr id="19" name="Shape 13"/>
          <p:cNvSpPr/>
          <p:nvPr/>
        </p:nvSpPr>
        <p:spPr>
          <a:xfrm>
            <a:off x="4617720" y="1280160"/>
            <a:ext cx="4069080" cy="3246120"/>
          </a:xfrm>
          <a:prstGeom prst="roundRect">
            <a:avLst>
              <a:gd name="adj" fmla="val 2817"/>
            </a:avLst>
          </a:prstGeom>
          <a:solidFill>
            <a:srgbClr val="FFFFFF"/>
          </a:solidFill>
          <a:ln w="9525">
            <a:solidFill>
              <a:srgbClr val="DEDFD4"/>
            </a:solidFill>
            <a:prstDash val="solid"/>
          </a:ln>
        </p:spPr>
      </p:sp>
      <p:sp>
        <p:nvSpPr>
          <p:cNvPr id="20" name="Text 14"/>
          <p:cNvSpPr txBox="1"/>
          <p:nvPr/>
        </p:nvSpPr>
        <p:spPr>
          <a:xfrm>
            <a:off x="4709160" y="1371600"/>
            <a:ext cx="731520" cy="256032"/>
          </a:xfrm>
          <a:prstGeom prst="roundRect">
            <a:avLst>
              <a:gd name="adj" fmla="val 21429"/>
            </a:avLst>
          </a:prstGeom>
          <a:solidFill>
            <a:srgbClr val="426951"/>
          </a:solidFill>
          <a:ln>
            <a:solidFill>
              <a:srgbClr val="426951"/>
            </a:solidFill>
          </a:ln>
        </p:spPr>
        <p:txBody>
          <a:bodyPr wrap="square" lIns="0" tIns="0" rIns="0" bIns="0" rtlCol="0" anchor="ctr"/>
          <a:lstStyle/>
          <a:p>
            <a:pPr algn="ctr" indent="0" marL="0">
              <a:buNone/>
            </a:pPr>
            <a:r>
              <a:rPr lang="en-US" sz="750" b="1" dirty="0">
                <a:solidFill>
                  <a:srgbClr val="FCFAF4"/>
                </a:solidFill>
                <a:latin typeface="Calibri" pitchFamily="34" charset="0"/>
                <a:ea typeface="Calibri" pitchFamily="34" charset="-122"/>
                <a:cs typeface="Calibri" pitchFamily="34" charset="-120"/>
              </a:rPr>
              <a:t>Classroom</a:t>
            </a:r>
            <a:endParaRPr lang="en-US" sz="750" dirty="0"/>
          </a:p>
        </p:txBody>
      </p:sp>
      <p:sp>
        <p:nvSpPr>
          <p:cNvPr id="21" name="Text 15"/>
          <p:cNvSpPr txBox="1"/>
          <p:nvPr/>
        </p:nvSpPr>
        <p:spPr>
          <a:xfrm>
            <a:off x="5495544" y="1371600"/>
            <a:ext cx="731520" cy="256032"/>
          </a:xfrm>
          <a:prstGeom prst="roundRect">
            <a:avLst>
              <a:gd name="adj" fmla="val 21429"/>
            </a:avLst>
          </a:prstGeom>
          <a:solidFill>
            <a:srgbClr val="E9EDDF"/>
          </a:solidFill>
          <a:ln>
            <a:solidFill>
              <a:srgbClr val="E9EDDF"/>
            </a:solidFill>
          </a:ln>
        </p:spPr>
        <p:txBody>
          <a:bodyPr wrap="square" lIns="0" tIns="0" rIns="0" bIns="0" rtlCol="0" anchor="ctr"/>
          <a:lstStyle/>
          <a:p>
            <a:pPr algn="ctr" indent="0" marL="0">
              <a:buNone/>
            </a:pPr>
            <a:r>
              <a:rPr lang="en-US" sz="750" dirty="0">
                <a:solidFill>
                  <a:srgbClr val="203A44"/>
                </a:solidFill>
                <a:latin typeface="Calibri" pitchFamily="34" charset="0"/>
                <a:ea typeface="Calibri" pitchFamily="34" charset="-122"/>
                <a:cs typeface="Calibri" pitchFamily="34" charset="-120"/>
              </a:rPr>
              <a:t>Notes 01.pdf</a:t>
            </a:r>
            <a:endParaRPr lang="en-US" sz="750" dirty="0"/>
          </a:p>
        </p:txBody>
      </p:sp>
      <p:sp>
        <p:nvSpPr>
          <p:cNvPr id="22" name="Text 16"/>
          <p:cNvSpPr txBox="1"/>
          <p:nvPr/>
        </p:nvSpPr>
        <p:spPr>
          <a:xfrm>
            <a:off x="6281928" y="1371600"/>
            <a:ext cx="731520" cy="256032"/>
          </a:xfrm>
          <a:prstGeom prst="roundRect">
            <a:avLst>
              <a:gd name="adj" fmla="val 21429"/>
            </a:avLst>
          </a:prstGeom>
          <a:solidFill>
            <a:srgbClr val="E9EDDF"/>
          </a:solidFill>
          <a:ln>
            <a:solidFill>
              <a:srgbClr val="E9EDDF"/>
            </a:solidFill>
          </a:ln>
        </p:spPr>
        <p:txBody>
          <a:bodyPr wrap="square" lIns="0" tIns="0" rIns="0" bIns="0" rtlCol="0" anchor="ctr"/>
          <a:lstStyle/>
          <a:p>
            <a:pPr algn="ctr" indent="0" marL="0">
              <a:buNone/>
            </a:pPr>
            <a:r>
              <a:rPr lang="en-US" sz="750" dirty="0">
                <a:solidFill>
                  <a:srgbClr val="203A44"/>
                </a:solidFill>
                <a:latin typeface="Calibri" pitchFamily="34" charset="0"/>
                <a:ea typeface="Calibri" pitchFamily="34" charset="-122"/>
                <a:cs typeface="Calibri" pitchFamily="34" charset="-120"/>
              </a:rPr>
              <a:t>Notes 02.pdf</a:t>
            </a:r>
            <a:endParaRPr lang="en-US" sz="750" dirty="0"/>
          </a:p>
        </p:txBody>
      </p:sp>
      <p:sp>
        <p:nvSpPr>
          <p:cNvPr id="23" name="Text 17"/>
          <p:cNvSpPr txBox="1"/>
          <p:nvPr/>
        </p:nvSpPr>
        <p:spPr>
          <a:xfrm>
            <a:off x="7068312" y="1371600"/>
            <a:ext cx="731520" cy="256032"/>
          </a:xfrm>
          <a:prstGeom prst="roundRect">
            <a:avLst>
              <a:gd name="adj" fmla="val 21429"/>
            </a:avLst>
          </a:prstGeom>
          <a:solidFill>
            <a:srgbClr val="E9EDDF"/>
          </a:solidFill>
          <a:ln>
            <a:solidFill>
              <a:srgbClr val="E9EDDF"/>
            </a:solidFill>
          </a:ln>
        </p:spPr>
        <p:txBody>
          <a:bodyPr wrap="square" lIns="0" tIns="0" rIns="0" bIns="0" rtlCol="0" anchor="ctr"/>
          <a:lstStyle/>
          <a:p>
            <a:pPr algn="ctr" indent="0" marL="0">
              <a:buNone/>
            </a:pPr>
            <a:r>
              <a:rPr lang="en-US" sz="750" dirty="0">
                <a:solidFill>
                  <a:srgbClr val="203A44"/>
                </a:solidFill>
                <a:latin typeface="Calibri" pitchFamily="34" charset="0"/>
                <a:ea typeface="Calibri" pitchFamily="34" charset="-122"/>
                <a:cs typeface="Calibri" pitchFamily="34" charset="-120"/>
              </a:rPr>
              <a:t>Worksheet</a:t>
            </a:r>
            <a:endParaRPr lang="en-US" sz="750" dirty="0"/>
          </a:p>
        </p:txBody>
      </p:sp>
      <p:sp>
        <p:nvSpPr>
          <p:cNvPr id="24" name="Text 18"/>
          <p:cNvSpPr txBox="1"/>
          <p:nvPr/>
        </p:nvSpPr>
        <p:spPr>
          <a:xfrm>
            <a:off x="7854696" y="1371600"/>
            <a:ext cx="731520" cy="256032"/>
          </a:xfrm>
          <a:prstGeom prst="roundRect">
            <a:avLst>
              <a:gd name="adj" fmla="val 21429"/>
            </a:avLst>
          </a:prstGeom>
          <a:solidFill>
            <a:srgbClr val="E9EDDF"/>
          </a:solidFill>
          <a:ln>
            <a:solidFill>
              <a:srgbClr val="E9EDDF"/>
            </a:solidFill>
          </a:ln>
        </p:spPr>
        <p:txBody>
          <a:bodyPr wrap="square" lIns="0" tIns="0" rIns="0" bIns="0" rtlCol="0" anchor="ctr"/>
          <a:lstStyle/>
          <a:p>
            <a:pPr algn="ctr" indent="0" marL="0">
              <a:buNone/>
            </a:pPr>
            <a:r>
              <a:rPr lang="en-US" sz="750" dirty="0">
                <a:solidFill>
                  <a:srgbClr val="203A44"/>
                </a:solidFill>
                <a:latin typeface="Calibri" pitchFamily="34" charset="0"/>
                <a:ea typeface="Calibri" pitchFamily="34" charset="-122"/>
                <a:cs typeface="Calibri" pitchFamily="34" charset="-120"/>
              </a:rPr>
              <a:t>Chat</a:t>
            </a:r>
            <a:endParaRPr lang="en-US" sz="750" dirty="0"/>
          </a:p>
        </p:txBody>
      </p:sp>
      <p:sp>
        <p:nvSpPr>
          <p:cNvPr id="25" name="Text 19"/>
          <p:cNvSpPr txBox="1"/>
          <p:nvPr/>
        </p:nvSpPr>
        <p:spPr>
          <a:xfrm rot="21420000">
            <a:off x="4800600" y="1828800"/>
            <a:ext cx="1828800" cy="640080"/>
          </a:xfrm>
          <a:prstGeom prst="roundRect">
            <a:avLst>
              <a:gd name="adj" fmla="val 8571"/>
            </a:avLst>
          </a:prstGeom>
          <a:solidFill>
            <a:srgbClr val="FCFAF4"/>
          </a:solidFill>
          <a:ln w="9525">
            <a:solidFill>
              <a:srgbClr val="DEDFD4"/>
            </a:solidFill>
          </a:ln>
        </p:spPr>
        <p:txBody>
          <a:bodyPr wrap="square" lIns="76200" tIns="76200" rIns="76200" bIns="76200" rtlCol="0" anchor="ctr"/>
          <a:lstStyle/>
          <a:p>
            <a:pPr indent="0" marL="0">
              <a:buNone/>
            </a:pPr>
            <a:r>
              <a:rPr lang="en-US" sz="700" b="1" dirty="0">
                <a:solidFill>
                  <a:srgbClr val="5F6F76"/>
                </a:solidFill>
                <a:latin typeface="Calibri" pitchFamily="34" charset="0"/>
                <a:ea typeface="Calibri" pitchFamily="34" charset="-122"/>
                <a:cs typeface="Calibri" pitchFamily="34" charset="-120"/>
              </a:rPr>
              <a:t>STREAM · ANNOUNCEMENT</a:t>
            </a:r>
            <a:endParaRPr lang="en-US" sz="700" dirty="0"/>
          </a:p>
          <a:p>
            <a:pPr indent="0" marL="0">
              <a:buNone/>
            </a:pPr>
            <a:r>
              <a:rPr lang="en-US" sz="950" dirty="0">
                <a:solidFill>
                  <a:srgbClr val="203A44"/>
                </a:solidFill>
                <a:latin typeface="Calibri" pitchFamily="34" charset="0"/>
                <a:ea typeface="Calibri" pitchFamily="34" charset="-122"/>
                <a:cs typeface="Calibri" pitchFamily="34" charset="-120"/>
              </a:rPr>
              <a:t>Test on electricity this Friday</a:t>
            </a:r>
            <a:endParaRPr lang="en-US" sz="700" dirty="0"/>
          </a:p>
        </p:txBody>
      </p:sp>
      <p:sp>
        <p:nvSpPr>
          <p:cNvPr id="26" name="Text 20"/>
          <p:cNvSpPr txBox="1"/>
          <p:nvPr/>
        </p:nvSpPr>
        <p:spPr>
          <a:xfrm rot="120000">
            <a:off x="6720840" y="1737360"/>
            <a:ext cx="1828800" cy="640080"/>
          </a:xfrm>
          <a:prstGeom prst="roundRect">
            <a:avLst>
              <a:gd name="adj" fmla="val 8571"/>
            </a:avLst>
          </a:prstGeom>
          <a:solidFill>
            <a:srgbClr val="FCFAF4"/>
          </a:solidFill>
          <a:ln w="9525">
            <a:solidFill>
              <a:srgbClr val="DEDFD4"/>
            </a:solidFill>
          </a:ln>
        </p:spPr>
        <p:txBody>
          <a:bodyPr wrap="square" lIns="76200" tIns="76200" rIns="76200" bIns="76200" rtlCol="0" anchor="ctr"/>
          <a:lstStyle/>
          <a:p>
            <a:pPr indent="0" marL="0">
              <a:buNone/>
            </a:pPr>
            <a:r>
              <a:rPr lang="en-US" sz="700" b="1" dirty="0">
                <a:solidFill>
                  <a:srgbClr val="5F6F76"/>
                </a:solidFill>
                <a:latin typeface="Calibri" pitchFamily="34" charset="0"/>
                <a:ea typeface="Calibri" pitchFamily="34" charset="-122"/>
                <a:cs typeface="Calibri" pitchFamily="34" charset="-120"/>
              </a:rPr>
              <a:t>CLASSWORK · MATERIAL</a:t>
            </a:r>
            <a:endParaRPr lang="en-US" sz="700" dirty="0"/>
          </a:p>
          <a:p>
            <a:pPr indent="0" marL="0">
              <a:buNone/>
            </a:pPr>
            <a:r>
              <a:rPr lang="en-US" sz="950" dirty="0">
                <a:solidFill>
                  <a:srgbClr val="203A44"/>
                </a:solidFill>
                <a:latin typeface="Calibri" pitchFamily="34" charset="0"/>
                <a:ea typeface="Calibri" pitchFamily="34" charset="-122"/>
                <a:cs typeface="Calibri" pitchFamily="34" charset="-120"/>
              </a:rPr>
              <a:t>01 Current of electricity – NOTES.pdf</a:t>
            </a:r>
            <a:endParaRPr lang="en-US" sz="700" dirty="0"/>
          </a:p>
        </p:txBody>
      </p:sp>
      <p:sp>
        <p:nvSpPr>
          <p:cNvPr id="27" name="Text 21"/>
          <p:cNvSpPr txBox="1"/>
          <p:nvPr/>
        </p:nvSpPr>
        <p:spPr>
          <a:xfrm rot="120000">
            <a:off x="4892040" y="2651760"/>
            <a:ext cx="1828800" cy="640080"/>
          </a:xfrm>
          <a:prstGeom prst="roundRect">
            <a:avLst>
              <a:gd name="adj" fmla="val 8571"/>
            </a:avLst>
          </a:prstGeom>
          <a:solidFill>
            <a:srgbClr val="FCFAF4"/>
          </a:solidFill>
          <a:ln w="9525">
            <a:solidFill>
              <a:srgbClr val="DEDFD4"/>
            </a:solidFill>
          </a:ln>
        </p:spPr>
        <p:txBody>
          <a:bodyPr wrap="square" lIns="76200" tIns="76200" rIns="76200" bIns="76200" rtlCol="0" anchor="ctr"/>
          <a:lstStyle/>
          <a:p>
            <a:pPr indent="0" marL="0">
              <a:buNone/>
            </a:pPr>
            <a:r>
              <a:rPr lang="en-US" sz="700" b="1" dirty="0">
                <a:solidFill>
                  <a:srgbClr val="5F6F76"/>
                </a:solidFill>
                <a:latin typeface="Calibri" pitchFamily="34" charset="0"/>
                <a:ea typeface="Calibri" pitchFamily="34" charset="-122"/>
                <a:cs typeface="Calibri" pitchFamily="34" charset="-120"/>
              </a:rPr>
              <a:t>CLASSWORK · MATERIAL</a:t>
            </a:r>
            <a:endParaRPr lang="en-US" sz="700" dirty="0"/>
          </a:p>
          <a:p>
            <a:pPr indent="0" marL="0">
              <a:buNone/>
            </a:pPr>
            <a:r>
              <a:rPr lang="en-US" sz="950" dirty="0">
                <a:solidFill>
                  <a:srgbClr val="203A44"/>
                </a:solidFill>
                <a:latin typeface="Calibri" pitchFamily="34" charset="0"/>
                <a:ea typeface="Calibri" pitchFamily="34" charset="-122"/>
                <a:cs typeface="Calibri" pitchFamily="34" charset="-120"/>
              </a:rPr>
              <a:t>02 Practical Electricity – NOTES.pdf</a:t>
            </a:r>
            <a:endParaRPr lang="en-US" sz="700" dirty="0"/>
          </a:p>
        </p:txBody>
      </p:sp>
      <p:sp>
        <p:nvSpPr>
          <p:cNvPr id="28" name="Text 22"/>
          <p:cNvSpPr txBox="1"/>
          <p:nvPr/>
        </p:nvSpPr>
        <p:spPr>
          <a:xfrm rot="21480000">
            <a:off x="6766560" y="2606040"/>
            <a:ext cx="1828800" cy="640080"/>
          </a:xfrm>
          <a:prstGeom prst="roundRect">
            <a:avLst>
              <a:gd name="adj" fmla="val 8571"/>
            </a:avLst>
          </a:prstGeom>
          <a:solidFill>
            <a:srgbClr val="FCFAF4"/>
          </a:solidFill>
          <a:ln w="9525">
            <a:solidFill>
              <a:srgbClr val="DEDFD4"/>
            </a:solidFill>
          </a:ln>
        </p:spPr>
        <p:txBody>
          <a:bodyPr wrap="square" lIns="76200" tIns="76200" rIns="76200" bIns="76200" rtlCol="0" anchor="ctr"/>
          <a:lstStyle/>
          <a:p>
            <a:pPr indent="0" marL="0">
              <a:buNone/>
            </a:pPr>
            <a:r>
              <a:rPr lang="en-US" sz="700" b="1" dirty="0">
                <a:solidFill>
                  <a:srgbClr val="5F6F76"/>
                </a:solidFill>
                <a:latin typeface="Calibri" pitchFamily="34" charset="0"/>
                <a:ea typeface="Calibri" pitchFamily="34" charset="-122"/>
                <a:cs typeface="Calibri" pitchFamily="34" charset="-120"/>
              </a:rPr>
              <a:t>CLASSWORK · ASSIGNMENT</a:t>
            </a:r>
            <a:endParaRPr lang="en-US" sz="700" dirty="0"/>
          </a:p>
          <a:p>
            <a:pPr indent="0" marL="0">
              <a:buNone/>
            </a:pPr>
            <a:r>
              <a:rPr lang="en-US" sz="950" dirty="0">
                <a:solidFill>
                  <a:srgbClr val="203A44"/>
                </a:solidFill>
                <a:latin typeface="Calibri" pitchFamily="34" charset="0"/>
                <a:ea typeface="Calibri" pitchFamily="34" charset="-122"/>
                <a:cs typeface="Calibri" pitchFamily="34" charset="-120"/>
              </a:rPr>
              <a:t>Circuits worksheet · due Thursday</a:t>
            </a:r>
            <a:endParaRPr lang="en-US" sz="700" dirty="0"/>
          </a:p>
        </p:txBody>
      </p:sp>
      <p:sp>
        <p:nvSpPr>
          <p:cNvPr id="29" name="Text 23"/>
          <p:cNvSpPr txBox="1"/>
          <p:nvPr/>
        </p:nvSpPr>
        <p:spPr>
          <a:xfrm>
            <a:off x="4846320" y="3520440"/>
            <a:ext cx="1188720" cy="256032"/>
          </a:xfrm>
          <a:prstGeom prst="roundRect">
            <a:avLst>
              <a:gd name="adj" fmla="val 50000"/>
            </a:avLst>
          </a:prstGeom>
          <a:solidFill>
            <a:srgbClr val="E9EDDF"/>
          </a:solidFill>
          <a:ln>
            <a:solidFill>
              <a:srgbClr val="E9EDDF"/>
            </a:solidFill>
          </a:ln>
        </p:spPr>
        <p:txBody>
          <a:bodyPr wrap="square" lIns="0" tIns="0" rIns="0" bIns="0" rtlCol="0" anchor="ctr"/>
          <a:lstStyle/>
          <a:p>
            <a:pPr algn="ctr" indent="0" marL="0">
              <a:buNone/>
            </a:pPr>
            <a:r>
              <a:rPr lang="en-US" sz="800" dirty="0">
                <a:solidFill>
                  <a:srgbClr val="203A44"/>
                </a:solidFill>
                <a:latin typeface="Calibri" pitchFamily="34" charset="0"/>
                <a:ea typeface="Calibri" pitchFamily="34" charset="-122"/>
                <a:cs typeface="Calibri" pitchFamily="34" charset="-120"/>
              </a:rPr>
              <a:t>Topic · Electricity</a:t>
            </a:r>
            <a:endParaRPr lang="en-US" sz="800" dirty="0"/>
          </a:p>
        </p:txBody>
      </p:sp>
      <p:sp>
        <p:nvSpPr>
          <p:cNvPr id="30" name="Text 24"/>
          <p:cNvSpPr txBox="1"/>
          <p:nvPr/>
        </p:nvSpPr>
        <p:spPr>
          <a:xfrm>
            <a:off x="6172200" y="3520440"/>
            <a:ext cx="1097280" cy="256032"/>
          </a:xfrm>
          <a:prstGeom prst="roundRect">
            <a:avLst>
              <a:gd name="adj" fmla="val 50000"/>
            </a:avLst>
          </a:prstGeom>
          <a:solidFill>
            <a:srgbClr val="E9EDDF"/>
          </a:solidFill>
          <a:ln>
            <a:solidFill>
              <a:srgbClr val="E9EDDF"/>
            </a:solidFill>
          </a:ln>
        </p:spPr>
        <p:txBody>
          <a:bodyPr wrap="square" lIns="0" tIns="0" rIns="0" bIns="0" rtlCol="0" anchor="ctr"/>
          <a:lstStyle/>
          <a:p>
            <a:pPr algn="ctr" indent="0" marL="0">
              <a:buNone/>
            </a:pPr>
            <a:r>
              <a:rPr lang="en-US" sz="800" dirty="0">
                <a:solidFill>
                  <a:srgbClr val="203A44"/>
                </a:solidFill>
                <a:latin typeface="Calibri" pitchFamily="34" charset="0"/>
                <a:ea typeface="Calibri" pitchFamily="34" charset="-122"/>
                <a:cs typeface="Calibri" pitchFamily="34" charset="-120"/>
              </a:rPr>
              <a:t>Opens in Drive ↗</a:t>
            </a:r>
            <a:endParaRPr lang="en-US" sz="800" dirty="0"/>
          </a:p>
        </p:txBody>
      </p:sp>
      <p:sp>
        <p:nvSpPr>
          <p:cNvPr id="31" name="Text 25"/>
          <p:cNvSpPr txBox="1"/>
          <p:nvPr/>
        </p:nvSpPr>
        <p:spPr>
          <a:xfrm>
            <a:off x="7406640" y="3520440"/>
            <a:ext cx="1097280" cy="256032"/>
          </a:xfrm>
          <a:prstGeom prst="roundRect">
            <a:avLst>
              <a:gd name="adj" fmla="val 50000"/>
            </a:avLst>
          </a:prstGeom>
          <a:solidFill>
            <a:srgbClr val="E9EDDF"/>
          </a:solidFill>
          <a:ln>
            <a:solidFill>
              <a:srgbClr val="E9EDDF"/>
            </a:solidFill>
          </a:ln>
        </p:spPr>
        <p:txBody>
          <a:bodyPr wrap="square" lIns="0" tIns="0" rIns="0" bIns="0" rtlCol="0" anchor="ctr"/>
          <a:lstStyle/>
          <a:p>
            <a:pPr algn="ctr" indent="0" marL="0">
              <a:buNone/>
            </a:pPr>
            <a:r>
              <a:rPr lang="en-US" sz="800" dirty="0">
                <a:solidFill>
                  <a:srgbClr val="203A44"/>
                </a:solidFill>
                <a:latin typeface="Calibri" pitchFamily="34" charset="0"/>
                <a:ea typeface="Calibri" pitchFamily="34" charset="-122"/>
                <a:cs typeface="Calibri" pitchFamily="34" charset="-120"/>
              </a:rPr>
              <a:t>Opens in Docs ↗</a:t>
            </a:r>
            <a:endParaRPr lang="en-US" sz="800" dirty="0"/>
          </a:p>
        </p:txBody>
      </p:sp>
      <p:sp>
        <p:nvSpPr>
          <p:cNvPr id="32" name="Text 26"/>
          <p:cNvSpPr txBox="1"/>
          <p:nvPr/>
        </p:nvSpPr>
        <p:spPr>
          <a:xfrm>
            <a:off x="4846320" y="3977640"/>
            <a:ext cx="3611880" cy="365760"/>
          </a:xfrm>
          <a:prstGeom prst="rect">
            <a:avLst/>
          </a:prstGeom>
          <a:noFill/>
          <a:ln/>
        </p:spPr>
        <p:txBody>
          <a:bodyPr wrap="square" lIns="0" tIns="0" rIns="0" bIns="0" rtlCol="0" anchor="ctr"/>
          <a:lstStyle/>
          <a:p>
            <a:pPr algn="ctr" indent="0" marL="0">
              <a:buNone/>
            </a:pPr>
            <a:r>
              <a:rPr lang="en-US" sz="1000" i="1" dirty="0">
                <a:solidFill>
                  <a:srgbClr val="5F6F76"/>
                </a:solidFill>
                <a:latin typeface="Calibri" pitchFamily="34" charset="0"/>
                <a:ea typeface="Calibri" pitchFamily="34" charset="-122"/>
                <a:cs typeface="Calibri" pitchFamily="34" charset="-120"/>
              </a:rPr>
              <a:t>One topic. Four places. Five tabs.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AF4"/>
        </a:solidFill>
      </p:bgPr>
    </p:bg>
    <p:spTree>
      <p:nvGrpSpPr>
        <p:cNvPr id="1" name=""/>
        <p:cNvGrpSpPr/>
        <p:nvPr/>
      </p:nvGrpSpPr>
      <p:grpSpPr>
        <a:xfrm>
          <a:off x="0" y="0"/>
          <a:ext cx="0" cy="0"/>
          <a:chOff x="0" y="0"/>
          <a:chExt cx="0" cy="0"/>
        </a:xfrm>
      </p:grpSpPr>
      <p:pic>
        <p:nvPicPr>
          <p:cNvPr id="2" name="Image 0" descr="/Users/chaipinzheng/Dev/agents-everywhere-2026/.claude/worktrees/agent-integration-slides-f8af74/assets/devpost/afterclass-icon.png">    </p:cNvPr>
          <p:cNvPicPr>
            <a:picLocks noChangeAspect="1"/>
          </p:cNvPicPr>
          <p:nvPr/>
        </p:nvPicPr>
        <p:blipFill>
          <a:blip r:embed="rId1"/>
          <a:stretch>
            <a:fillRect/>
          </a:stretch>
        </p:blipFill>
        <p:spPr>
          <a:xfrm>
            <a:off x="457200" y="4690872"/>
            <a:ext cx="256032" cy="256032"/>
          </a:xfrm>
          <a:prstGeom prst="rect">
            <a:avLst/>
          </a:prstGeom>
        </p:spPr>
      </p:pic>
      <p:sp>
        <p:nvSpPr>
          <p:cNvPr id="3" name="Text 0"/>
          <p:cNvSpPr txBox="1"/>
          <p:nvPr/>
        </p:nvSpPr>
        <p:spPr>
          <a:xfrm>
            <a:off x="777240" y="4690872"/>
            <a:ext cx="1828800" cy="256032"/>
          </a:xfrm>
          <a:prstGeom prst="rect">
            <a:avLst/>
          </a:prstGeom>
          <a:noFill/>
          <a:ln/>
        </p:spPr>
        <p:txBody>
          <a:bodyPr wrap="square" lIns="0" tIns="0" rIns="0" bIns="0" rtlCol="0" anchor="ctr"/>
          <a:lstStyle/>
          <a:p>
            <a:pPr indent="0" marL="0">
              <a:buNone/>
            </a:pPr>
            <a:r>
              <a:rPr lang="en-US" sz="900" dirty="0">
                <a:solidFill>
                  <a:srgbClr val="5F6F76"/>
                </a:solidFill>
                <a:latin typeface="Calibri" pitchFamily="34" charset="0"/>
                <a:ea typeface="Calibri" pitchFamily="34" charset="-122"/>
                <a:cs typeface="Calibri" pitchFamily="34" charset="-120"/>
              </a:rPr>
              <a:t>Afterclass</a:t>
            </a:r>
            <a:endParaRPr lang="en-US" sz="900" dirty="0"/>
          </a:p>
        </p:txBody>
      </p:sp>
      <p:sp>
        <p:nvSpPr>
          <p:cNvPr id="4" name="Text 1"/>
          <p:cNvSpPr txBox="1"/>
          <p:nvPr/>
        </p:nvSpPr>
        <p:spPr>
          <a:xfrm>
            <a:off x="7955280" y="4690872"/>
            <a:ext cx="731520" cy="256032"/>
          </a:xfrm>
          <a:prstGeom prst="rect">
            <a:avLst/>
          </a:prstGeom>
          <a:noFill/>
          <a:ln/>
        </p:spPr>
        <p:txBody>
          <a:bodyPr wrap="square" lIns="0" tIns="0" rIns="0" bIns="0" rtlCol="0" anchor="ctr"/>
          <a:lstStyle/>
          <a:p>
            <a:pPr algn="r" indent="0" marL="0">
              <a:buNone/>
            </a:pPr>
            <a:r>
              <a:rPr lang="en-US" sz="900" dirty="0">
                <a:solidFill>
                  <a:srgbClr val="5F6F76"/>
                </a:solidFill>
                <a:latin typeface="Calibri" pitchFamily="34" charset="0"/>
                <a:ea typeface="Calibri" pitchFamily="34" charset="-122"/>
                <a:cs typeface="Calibri" pitchFamily="34" charset="-120"/>
              </a:rPr>
              <a:t>03</a:t>
            </a:r>
            <a:endParaRPr lang="en-US" sz="900" dirty="0"/>
          </a:p>
        </p:txBody>
      </p:sp>
      <p:sp>
        <p:nvSpPr>
          <p:cNvPr id="5" name="Text 2"/>
          <p:cNvSpPr txBox="1"/>
          <p:nvPr/>
        </p:nvSpPr>
        <p:spPr>
          <a:xfrm>
            <a:off x="457200" y="384048"/>
            <a:ext cx="8229600" cy="685800"/>
          </a:xfrm>
          <a:prstGeom prst="rect">
            <a:avLst/>
          </a:prstGeom>
          <a:noFill/>
          <a:ln/>
        </p:spPr>
        <p:txBody>
          <a:bodyPr wrap="square" lIns="0" tIns="0" rIns="0" bIns="0" rtlCol="0" anchor="ctr"/>
          <a:lstStyle/>
          <a:p>
            <a:pPr indent="0" marL="0">
              <a:buNone/>
            </a:pPr>
            <a:r>
              <a:rPr lang="en-US" sz="2800" dirty="0">
                <a:solidFill>
                  <a:srgbClr val="203A44"/>
                </a:solidFill>
                <a:latin typeface="Georgia" pitchFamily="34" charset="0"/>
                <a:ea typeface="Georgia" pitchFamily="34" charset="-122"/>
                <a:cs typeface="Georgia" pitchFamily="34" charset="-120"/>
              </a:rPr>
              <a:t>Put the teacher where the work already is.</a:t>
            </a:r>
            <a:endParaRPr lang="en-US" sz="2800" dirty="0"/>
          </a:p>
        </p:txBody>
      </p:sp>
      <p:sp>
        <p:nvSpPr>
          <p:cNvPr id="6" name="Text 3"/>
          <p:cNvSpPr txBox="1"/>
          <p:nvPr/>
        </p:nvSpPr>
        <p:spPr>
          <a:xfrm>
            <a:off x="457200" y="1051560"/>
            <a:ext cx="8229600" cy="320040"/>
          </a:xfrm>
          <a:prstGeom prst="rect">
            <a:avLst/>
          </a:prstGeom>
          <a:noFill/>
          <a:ln/>
        </p:spPr>
        <p:txBody>
          <a:bodyPr wrap="square" lIns="0" tIns="0" rIns="0" bIns="0" rtlCol="0" anchor="t"/>
          <a:lstStyle/>
          <a:p>
            <a:pPr indent="0" marL="0">
              <a:buNone/>
            </a:pPr>
            <a:r>
              <a:rPr lang="en-US" sz="1250" i="1" dirty="0">
                <a:solidFill>
                  <a:srgbClr val="5F6F76"/>
                </a:solidFill>
                <a:latin typeface="Calibri" pitchFamily="34" charset="0"/>
                <a:ea typeface="Calibri" pitchFamily="34" charset="-122"/>
                <a:cs typeface="Calibri" pitchFamily="34" charset="-120"/>
              </a:rPr>
              <a:t>“Most agents still wait inside a separate chat window.”  — Agents, Everywhere challenge brief</a:t>
            </a:r>
            <a:endParaRPr lang="en-US" sz="1250" dirty="0"/>
          </a:p>
        </p:txBody>
      </p:sp>
      <p:sp>
        <p:nvSpPr>
          <p:cNvPr id="7" name="Shape 4"/>
          <p:cNvSpPr/>
          <p:nvPr/>
        </p:nvSpPr>
        <p:spPr>
          <a:xfrm>
            <a:off x="457200" y="1554480"/>
            <a:ext cx="3977640" cy="2560320"/>
          </a:xfrm>
          <a:prstGeom prst="roundRect">
            <a:avLst>
              <a:gd name="adj" fmla="val 4286"/>
            </a:avLst>
          </a:prstGeom>
          <a:solidFill>
            <a:srgbClr val="FFFFFF"/>
          </a:solidFill>
          <a:ln w="9525">
            <a:solidFill>
              <a:srgbClr val="DEDFD4"/>
            </a:solidFill>
            <a:prstDash val="solid"/>
          </a:ln>
        </p:spPr>
      </p:sp>
      <p:sp>
        <p:nvSpPr>
          <p:cNvPr id="8" name="Text 5"/>
          <p:cNvSpPr txBox="1"/>
          <p:nvPr/>
        </p:nvSpPr>
        <p:spPr>
          <a:xfrm>
            <a:off x="731520" y="1737360"/>
            <a:ext cx="3474720" cy="320040"/>
          </a:xfrm>
          <a:prstGeom prst="rect">
            <a:avLst/>
          </a:prstGeom>
          <a:noFill/>
          <a:ln/>
        </p:spPr>
        <p:txBody>
          <a:bodyPr wrap="square" lIns="0" tIns="0" rIns="0" bIns="0" rtlCol="0" anchor="t"/>
          <a:lstStyle/>
          <a:p>
            <a:pPr indent="0" marL="0">
              <a:buNone/>
            </a:pPr>
            <a:r>
              <a:rPr lang="en-US" sz="1500" b="1" dirty="0">
                <a:solidFill>
                  <a:srgbClr val="5F6F76"/>
                </a:solidFill>
                <a:latin typeface="Calibri" pitchFamily="34" charset="0"/>
                <a:ea typeface="Calibri" pitchFamily="34" charset="-122"/>
                <a:cs typeface="Calibri" pitchFamily="34" charset="-120"/>
              </a:rPr>
              <a:t>A separate chat tab</a:t>
            </a:r>
            <a:endParaRPr lang="en-US" sz="1500" dirty="0"/>
          </a:p>
        </p:txBody>
      </p:sp>
      <p:pic>
        <p:nvPicPr>
          <p:cNvPr id="9" name="Image 1" descr="preencoded.png">    </p:cNvPr>
          <p:cNvPicPr>
            <a:picLocks noChangeAspect="1"/>
          </p:cNvPicPr>
          <p:nvPr/>
        </p:nvPicPr>
        <p:blipFill>
          <a:blip r:embed="rId2"/>
          <a:stretch>
            <a:fillRect/>
          </a:stretch>
        </p:blipFill>
        <p:spPr>
          <a:xfrm>
            <a:off x="731520" y="2212848"/>
            <a:ext cx="219456" cy="219456"/>
          </a:xfrm>
          <a:prstGeom prst="rect">
            <a:avLst/>
          </a:prstGeom>
        </p:spPr>
      </p:pic>
      <p:sp>
        <p:nvSpPr>
          <p:cNvPr id="10" name="Text 6"/>
          <p:cNvSpPr txBox="1"/>
          <p:nvPr/>
        </p:nvSpPr>
        <p:spPr>
          <a:xfrm>
            <a:off x="1097280" y="2194560"/>
            <a:ext cx="3154680" cy="274320"/>
          </a:xfrm>
          <a:prstGeom prst="rect">
            <a:avLst/>
          </a:prstGeom>
          <a:noFill/>
          <a:ln/>
        </p:spPr>
        <p:txBody>
          <a:bodyPr wrap="square" lIns="0" tIns="0" rIns="0" bIns="0" rtlCol="0" anchor="ctr"/>
          <a:lstStyle/>
          <a:p>
            <a:pPr indent="0" marL="0">
              <a:buNone/>
            </a:pPr>
            <a:r>
              <a:rPr lang="en-US" sz="1400" dirty="0">
                <a:solidFill>
                  <a:srgbClr val="203A44"/>
                </a:solidFill>
                <a:latin typeface="Calibri" pitchFamily="34" charset="0"/>
                <a:ea typeface="Calibri" pitchFamily="34" charset="-122"/>
                <a:cs typeface="Calibri" pitchFamily="34" charset="-120"/>
              </a:rPr>
              <a:t>Never saw the post</a:t>
            </a:r>
            <a:endParaRPr lang="en-US" sz="1400" dirty="0"/>
          </a:p>
        </p:txBody>
      </p:sp>
      <p:pic>
        <p:nvPicPr>
          <p:cNvPr id="11" name="Image 2" descr="preencoded.png">    </p:cNvPr>
          <p:cNvPicPr>
            <a:picLocks noChangeAspect="1"/>
          </p:cNvPicPr>
          <p:nvPr/>
        </p:nvPicPr>
        <p:blipFill>
          <a:blip r:embed="rId3"/>
          <a:stretch>
            <a:fillRect/>
          </a:stretch>
        </p:blipFill>
        <p:spPr>
          <a:xfrm>
            <a:off x="731520" y="2670048"/>
            <a:ext cx="219456" cy="219456"/>
          </a:xfrm>
          <a:prstGeom prst="rect">
            <a:avLst/>
          </a:prstGeom>
        </p:spPr>
      </p:pic>
      <p:sp>
        <p:nvSpPr>
          <p:cNvPr id="12" name="Text 7"/>
          <p:cNvSpPr txBox="1"/>
          <p:nvPr/>
        </p:nvSpPr>
        <p:spPr>
          <a:xfrm>
            <a:off x="1097280" y="2651760"/>
            <a:ext cx="3154680" cy="274320"/>
          </a:xfrm>
          <a:prstGeom prst="rect">
            <a:avLst/>
          </a:prstGeom>
          <a:noFill/>
          <a:ln/>
        </p:spPr>
        <p:txBody>
          <a:bodyPr wrap="square" lIns="0" tIns="0" rIns="0" bIns="0" rtlCol="0" anchor="ctr"/>
          <a:lstStyle/>
          <a:p>
            <a:pPr indent="0" marL="0">
              <a:buNone/>
            </a:pPr>
            <a:r>
              <a:rPr lang="en-US" sz="1400" dirty="0">
                <a:solidFill>
                  <a:srgbClr val="203A44"/>
                </a:solidFill>
                <a:latin typeface="Calibri" pitchFamily="34" charset="0"/>
                <a:ea typeface="Calibri" pitchFamily="34" charset="-122"/>
                <a:cs typeface="Calibri" pitchFamily="34" charset="-120"/>
              </a:rPr>
              <a:t>Answers from the internet</a:t>
            </a:r>
            <a:endParaRPr lang="en-US" sz="1400" dirty="0"/>
          </a:p>
        </p:txBody>
      </p:sp>
      <p:pic>
        <p:nvPicPr>
          <p:cNvPr id="13" name="Image 3" descr="preencoded.png">    </p:cNvPr>
          <p:cNvPicPr>
            <a:picLocks noChangeAspect="1"/>
          </p:cNvPicPr>
          <p:nvPr/>
        </p:nvPicPr>
        <p:blipFill>
          <a:blip r:embed="rId4"/>
          <a:stretch>
            <a:fillRect/>
          </a:stretch>
        </p:blipFill>
        <p:spPr>
          <a:xfrm>
            <a:off x="731520" y="3127248"/>
            <a:ext cx="219456" cy="219456"/>
          </a:xfrm>
          <a:prstGeom prst="rect">
            <a:avLst/>
          </a:prstGeom>
        </p:spPr>
      </p:pic>
      <p:sp>
        <p:nvSpPr>
          <p:cNvPr id="14" name="Text 8"/>
          <p:cNvSpPr txBox="1"/>
          <p:nvPr/>
        </p:nvSpPr>
        <p:spPr>
          <a:xfrm>
            <a:off x="1097280" y="3108960"/>
            <a:ext cx="3154680" cy="274320"/>
          </a:xfrm>
          <a:prstGeom prst="rect">
            <a:avLst/>
          </a:prstGeom>
          <a:noFill/>
          <a:ln/>
        </p:spPr>
        <p:txBody>
          <a:bodyPr wrap="square" lIns="0" tIns="0" rIns="0" bIns="0" rtlCol="0" anchor="ctr"/>
          <a:lstStyle/>
          <a:p>
            <a:pPr indent="0" marL="0">
              <a:buNone/>
            </a:pPr>
            <a:r>
              <a:rPr lang="en-US" sz="1400" dirty="0">
                <a:solidFill>
                  <a:srgbClr val="203A44"/>
                </a:solidFill>
                <a:latin typeface="Calibri" pitchFamily="34" charset="0"/>
                <a:ea typeface="Calibri" pitchFamily="34" charset="-122"/>
                <a:cs typeface="Calibri" pitchFamily="34" charset="-120"/>
              </a:rPr>
              <a:t>Forgets your mistakes</a:t>
            </a:r>
            <a:endParaRPr lang="en-US" sz="1400" dirty="0"/>
          </a:p>
        </p:txBody>
      </p:sp>
      <p:pic>
        <p:nvPicPr>
          <p:cNvPr id="15" name="Image 4" descr="preencoded.png">    </p:cNvPr>
          <p:cNvPicPr>
            <a:picLocks noChangeAspect="1"/>
          </p:cNvPicPr>
          <p:nvPr/>
        </p:nvPicPr>
        <p:blipFill>
          <a:blip r:embed="rId5"/>
          <a:stretch>
            <a:fillRect/>
          </a:stretch>
        </p:blipFill>
        <p:spPr>
          <a:xfrm>
            <a:off x="731520" y="3584448"/>
            <a:ext cx="219456" cy="219456"/>
          </a:xfrm>
          <a:prstGeom prst="rect">
            <a:avLst/>
          </a:prstGeom>
        </p:spPr>
      </p:pic>
      <p:sp>
        <p:nvSpPr>
          <p:cNvPr id="16" name="Text 9"/>
          <p:cNvSpPr txBox="1"/>
          <p:nvPr/>
        </p:nvSpPr>
        <p:spPr>
          <a:xfrm>
            <a:off x="1097280" y="3566160"/>
            <a:ext cx="3154680" cy="274320"/>
          </a:xfrm>
          <a:prstGeom prst="rect">
            <a:avLst/>
          </a:prstGeom>
          <a:noFill/>
          <a:ln/>
        </p:spPr>
        <p:txBody>
          <a:bodyPr wrap="square" lIns="0" tIns="0" rIns="0" bIns="0" rtlCol="0" anchor="ctr"/>
          <a:lstStyle/>
          <a:p>
            <a:pPr indent="0" marL="0">
              <a:buNone/>
            </a:pPr>
            <a:r>
              <a:rPr lang="en-US" sz="1400" dirty="0">
                <a:solidFill>
                  <a:srgbClr val="203A44"/>
                </a:solidFill>
                <a:latin typeface="Calibri" pitchFamily="34" charset="0"/>
                <a:ea typeface="Calibri" pitchFamily="34" charset="-122"/>
                <a:cs typeface="Calibri" pitchFamily="34" charset="-120"/>
              </a:rPr>
              <a:t>You hunt for the file</a:t>
            </a:r>
            <a:endParaRPr lang="en-US" sz="1400" dirty="0"/>
          </a:p>
        </p:txBody>
      </p:sp>
      <p:sp>
        <p:nvSpPr>
          <p:cNvPr id="17" name="Shape 10"/>
          <p:cNvSpPr/>
          <p:nvPr/>
        </p:nvSpPr>
        <p:spPr>
          <a:xfrm>
            <a:off x="4709160" y="1554480"/>
            <a:ext cx="3977640" cy="2560320"/>
          </a:xfrm>
          <a:prstGeom prst="roundRect">
            <a:avLst>
              <a:gd name="adj" fmla="val 4286"/>
            </a:avLst>
          </a:prstGeom>
          <a:solidFill>
            <a:srgbClr val="426951"/>
          </a:solidFill>
          <a:ln w="9525">
            <a:solidFill>
              <a:srgbClr val="426951"/>
            </a:solidFill>
            <a:prstDash val="solid"/>
          </a:ln>
        </p:spPr>
      </p:sp>
      <p:sp>
        <p:nvSpPr>
          <p:cNvPr id="18" name="Text 11"/>
          <p:cNvSpPr txBox="1"/>
          <p:nvPr/>
        </p:nvSpPr>
        <p:spPr>
          <a:xfrm>
            <a:off x="4983480" y="1737360"/>
            <a:ext cx="3474720" cy="320040"/>
          </a:xfrm>
          <a:prstGeom prst="rect">
            <a:avLst/>
          </a:prstGeom>
          <a:noFill/>
          <a:ln/>
        </p:spPr>
        <p:txBody>
          <a:bodyPr wrap="square" lIns="0" tIns="0" rIns="0" bIns="0" rtlCol="0" anchor="t"/>
          <a:lstStyle/>
          <a:p>
            <a:pPr indent="0" marL="0">
              <a:buNone/>
            </a:pPr>
            <a:r>
              <a:rPr lang="en-US" sz="1500" b="1" dirty="0">
                <a:solidFill>
                  <a:srgbClr val="FCFAF4"/>
                </a:solidFill>
                <a:latin typeface="Calibri" pitchFamily="34" charset="0"/>
                <a:ea typeface="Calibri" pitchFamily="34" charset="-122"/>
                <a:cs typeface="Calibri" pitchFamily="34" charset="-120"/>
              </a:rPr>
              <a:t>Afterclass, inside Classroom</a:t>
            </a:r>
            <a:endParaRPr lang="en-US" sz="1500" dirty="0"/>
          </a:p>
        </p:txBody>
      </p:sp>
      <p:pic>
        <p:nvPicPr>
          <p:cNvPr id="19" name="Image 5" descr="preencoded.png">    </p:cNvPr>
          <p:cNvPicPr>
            <a:picLocks noChangeAspect="1"/>
          </p:cNvPicPr>
          <p:nvPr/>
        </p:nvPicPr>
        <p:blipFill>
          <a:blip r:embed="rId6"/>
          <a:stretch>
            <a:fillRect/>
          </a:stretch>
        </p:blipFill>
        <p:spPr>
          <a:xfrm>
            <a:off x="4983480" y="2212848"/>
            <a:ext cx="219456" cy="219456"/>
          </a:xfrm>
          <a:prstGeom prst="rect">
            <a:avLst/>
          </a:prstGeom>
        </p:spPr>
      </p:pic>
      <p:sp>
        <p:nvSpPr>
          <p:cNvPr id="20" name="Text 12"/>
          <p:cNvSpPr txBox="1"/>
          <p:nvPr/>
        </p:nvSpPr>
        <p:spPr>
          <a:xfrm>
            <a:off x="5349240" y="2194560"/>
            <a:ext cx="3154680" cy="274320"/>
          </a:xfrm>
          <a:prstGeom prst="rect">
            <a:avLst/>
          </a:prstGeom>
          <a:noFill/>
          <a:ln/>
        </p:spPr>
        <p:txBody>
          <a:bodyPr wrap="square" lIns="0" tIns="0" rIns="0" bIns="0" rtlCol="0" anchor="ctr"/>
          <a:lstStyle/>
          <a:p>
            <a:pPr indent="0" marL="0">
              <a:buNone/>
            </a:pPr>
            <a:r>
              <a:rPr lang="en-US" sz="1400" dirty="0">
                <a:solidFill>
                  <a:srgbClr val="FCFAF4"/>
                </a:solidFill>
                <a:latin typeface="Calibri" pitchFamily="34" charset="0"/>
                <a:ea typeface="Calibri" pitchFamily="34" charset="-122"/>
                <a:cs typeface="Calibri" pitchFamily="34" charset="-120"/>
              </a:rPr>
              <a:t>Reads the posts you tick</a:t>
            </a:r>
            <a:endParaRPr lang="en-US" sz="1400" dirty="0"/>
          </a:p>
        </p:txBody>
      </p:sp>
      <p:pic>
        <p:nvPicPr>
          <p:cNvPr id="21" name="Image 6" descr="preencoded.png">    </p:cNvPr>
          <p:cNvPicPr>
            <a:picLocks noChangeAspect="1"/>
          </p:cNvPicPr>
          <p:nvPr/>
        </p:nvPicPr>
        <p:blipFill>
          <a:blip r:embed="rId7"/>
          <a:stretch>
            <a:fillRect/>
          </a:stretch>
        </p:blipFill>
        <p:spPr>
          <a:xfrm>
            <a:off x="4983480" y="2670048"/>
            <a:ext cx="219456" cy="219456"/>
          </a:xfrm>
          <a:prstGeom prst="rect">
            <a:avLst/>
          </a:prstGeom>
        </p:spPr>
      </p:pic>
      <p:sp>
        <p:nvSpPr>
          <p:cNvPr id="22" name="Text 13"/>
          <p:cNvSpPr txBox="1"/>
          <p:nvPr/>
        </p:nvSpPr>
        <p:spPr>
          <a:xfrm>
            <a:off x="5349240" y="2651760"/>
            <a:ext cx="3154680" cy="274320"/>
          </a:xfrm>
          <a:prstGeom prst="rect">
            <a:avLst/>
          </a:prstGeom>
          <a:noFill/>
          <a:ln/>
        </p:spPr>
        <p:txBody>
          <a:bodyPr wrap="square" lIns="0" tIns="0" rIns="0" bIns="0" rtlCol="0" anchor="ctr"/>
          <a:lstStyle/>
          <a:p>
            <a:pPr indent="0" marL="0">
              <a:buNone/>
            </a:pPr>
            <a:r>
              <a:rPr lang="en-US" sz="1400" dirty="0">
                <a:solidFill>
                  <a:srgbClr val="FCFAF4"/>
                </a:solidFill>
                <a:latin typeface="Calibri" pitchFamily="34" charset="0"/>
                <a:ea typeface="Calibri" pitchFamily="34" charset="-122"/>
                <a:cs typeface="Calibri" pitchFamily="34" charset="-120"/>
              </a:rPr>
              <a:t>Cites the teacher's passage</a:t>
            </a:r>
            <a:endParaRPr lang="en-US" sz="1400" dirty="0"/>
          </a:p>
        </p:txBody>
      </p:sp>
      <p:pic>
        <p:nvPicPr>
          <p:cNvPr id="23" name="Image 7" descr="preencoded.png">    </p:cNvPr>
          <p:cNvPicPr>
            <a:picLocks noChangeAspect="1"/>
          </p:cNvPicPr>
          <p:nvPr/>
        </p:nvPicPr>
        <p:blipFill>
          <a:blip r:embed="rId8"/>
          <a:stretch>
            <a:fillRect/>
          </a:stretch>
        </p:blipFill>
        <p:spPr>
          <a:xfrm>
            <a:off x="4983480" y="3127248"/>
            <a:ext cx="219456" cy="219456"/>
          </a:xfrm>
          <a:prstGeom prst="rect">
            <a:avLst/>
          </a:prstGeom>
        </p:spPr>
      </p:pic>
      <p:sp>
        <p:nvSpPr>
          <p:cNvPr id="24" name="Text 14"/>
          <p:cNvSpPr txBox="1"/>
          <p:nvPr/>
        </p:nvSpPr>
        <p:spPr>
          <a:xfrm>
            <a:off x="5349240" y="3108960"/>
            <a:ext cx="3154680" cy="274320"/>
          </a:xfrm>
          <a:prstGeom prst="rect">
            <a:avLst/>
          </a:prstGeom>
          <a:noFill/>
          <a:ln/>
        </p:spPr>
        <p:txBody>
          <a:bodyPr wrap="square" lIns="0" tIns="0" rIns="0" bIns="0" rtlCol="0" anchor="ctr"/>
          <a:lstStyle/>
          <a:p>
            <a:pPr indent="0" marL="0">
              <a:buNone/>
            </a:pPr>
            <a:r>
              <a:rPr lang="en-US" sz="1400" dirty="0">
                <a:solidFill>
                  <a:srgbClr val="FCFAF4"/>
                </a:solidFill>
                <a:latin typeface="Calibri" pitchFamily="34" charset="0"/>
                <a:ea typeface="Calibri" pitchFamily="34" charset="-122"/>
                <a:cs typeface="Calibri" pitchFamily="34" charset="-120"/>
              </a:rPr>
              <a:t>Adapts to your answer</a:t>
            </a:r>
            <a:endParaRPr lang="en-US" sz="1400" dirty="0"/>
          </a:p>
        </p:txBody>
      </p:sp>
      <p:pic>
        <p:nvPicPr>
          <p:cNvPr id="25" name="Image 8" descr="preencoded.png">    </p:cNvPr>
          <p:cNvPicPr>
            <a:picLocks noChangeAspect="1"/>
          </p:cNvPicPr>
          <p:nvPr/>
        </p:nvPicPr>
        <p:blipFill>
          <a:blip r:embed="rId9"/>
          <a:stretch>
            <a:fillRect/>
          </a:stretch>
        </p:blipFill>
        <p:spPr>
          <a:xfrm>
            <a:off x="4983480" y="3584448"/>
            <a:ext cx="219456" cy="219456"/>
          </a:xfrm>
          <a:prstGeom prst="rect">
            <a:avLst/>
          </a:prstGeom>
        </p:spPr>
      </p:pic>
      <p:sp>
        <p:nvSpPr>
          <p:cNvPr id="26" name="Text 15"/>
          <p:cNvSpPr txBox="1"/>
          <p:nvPr/>
        </p:nvSpPr>
        <p:spPr>
          <a:xfrm>
            <a:off x="5349240" y="3566160"/>
            <a:ext cx="3154680" cy="274320"/>
          </a:xfrm>
          <a:prstGeom prst="rect">
            <a:avLst/>
          </a:prstGeom>
          <a:noFill/>
          <a:ln/>
        </p:spPr>
        <p:txBody>
          <a:bodyPr wrap="square" lIns="0" tIns="0" rIns="0" bIns="0" rtlCol="0" anchor="ctr"/>
          <a:lstStyle/>
          <a:p>
            <a:pPr indent="0" marL="0">
              <a:buNone/>
            </a:pPr>
            <a:r>
              <a:rPr lang="en-US" sz="1400" dirty="0">
                <a:solidFill>
                  <a:srgbClr val="FCFAF4"/>
                </a:solidFill>
                <a:latin typeface="Calibri" pitchFamily="34" charset="0"/>
                <a:ea typeface="Calibri" pitchFamily="34" charset="-122"/>
                <a:cs typeface="Calibri" pitchFamily="34" charset="-120"/>
              </a:rPr>
              <a:t>Plans around your time</a:t>
            </a:r>
            <a:endParaRPr lang="en-US" sz="1400" dirty="0"/>
          </a:p>
        </p:txBody>
      </p:sp>
      <p:sp>
        <p:nvSpPr>
          <p:cNvPr id="27" name="Text 16"/>
          <p:cNvSpPr txBox="1"/>
          <p:nvPr/>
        </p:nvSpPr>
        <p:spPr>
          <a:xfrm>
            <a:off x="457200" y="4224528"/>
            <a:ext cx="8229600" cy="347472"/>
          </a:xfrm>
          <a:prstGeom prst="rect">
            <a:avLst/>
          </a:prstGeom>
          <a:noFill/>
          <a:ln/>
        </p:spPr>
        <p:txBody>
          <a:bodyPr wrap="square" lIns="0" tIns="0" rIns="0" bIns="0" rtlCol="0" anchor="ctr"/>
          <a:lstStyle/>
          <a:p>
            <a:pPr indent="0" marL="0">
              <a:buNone/>
            </a:pPr>
            <a:r>
              <a:rPr lang="en-US" sz="1300" dirty="0">
                <a:solidFill>
                  <a:srgbClr val="203A44"/>
                </a:solidFill>
                <a:latin typeface="Calibri" pitchFamily="34" charset="0"/>
                <a:ea typeface="Calibri" pitchFamily="34" charset="-122"/>
                <a:cs typeface="Calibri" pitchFamily="34" charset="-120"/>
              </a:rPr>
              <a:t>A Chrome extension. The real Classroom page. Nothing written back.</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4"/>
        </a:solidFill>
      </p:bgPr>
    </p:bg>
    <p:spTree>
      <p:nvGrpSpPr>
        <p:cNvPr id="1" name=""/>
        <p:cNvGrpSpPr/>
        <p:nvPr/>
      </p:nvGrpSpPr>
      <p:grpSpPr>
        <a:xfrm>
          <a:off x="0" y="0"/>
          <a:ext cx="0" cy="0"/>
          <a:chOff x="0" y="0"/>
          <a:chExt cx="0" cy="0"/>
        </a:xfrm>
      </p:grpSpPr>
      <p:pic>
        <p:nvPicPr>
          <p:cNvPr id="2" name="Image 0" descr="/Users/chaipinzheng/Dev/agents-everywhere-2026/.claude/worktrees/agent-integration-slides-f8af74/assets/devpost/afterclass-icon.png">    </p:cNvPr>
          <p:cNvPicPr>
            <a:picLocks noChangeAspect="1"/>
          </p:cNvPicPr>
          <p:nvPr/>
        </p:nvPicPr>
        <p:blipFill>
          <a:blip r:embed="rId1"/>
          <a:stretch>
            <a:fillRect/>
          </a:stretch>
        </p:blipFill>
        <p:spPr>
          <a:xfrm>
            <a:off x="457200" y="4690872"/>
            <a:ext cx="256032" cy="256032"/>
          </a:xfrm>
          <a:prstGeom prst="rect">
            <a:avLst/>
          </a:prstGeom>
        </p:spPr>
      </p:pic>
      <p:sp>
        <p:nvSpPr>
          <p:cNvPr id="3" name="Text 0"/>
          <p:cNvSpPr txBox="1"/>
          <p:nvPr/>
        </p:nvSpPr>
        <p:spPr>
          <a:xfrm>
            <a:off x="777240" y="4690872"/>
            <a:ext cx="1828800" cy="256032"/>
          </a:xfrm>
          <a:prstGeom prst="rect">
            <a:avLst/>
          </a:prstGeom>
          <a:noFill/>
          <a:ln/>
        </p:spPr>
        <p:txBody>
          <a:bodyPr wrap="square" lIns="0" tIns="0" rIns="0" bIns="0" rtlCol="0" anchor="ctr"/>
          <a:lstStyle/>
          <a:p>
            <a:pPr indent="0" marL="0">
              <a:buNone/>
            </a:pPr>
            <a:r>
              <a:rPr lang="en-US" sz="900" dirty="0">
                <a:solidFill>
                  <a:srgbClr val="5F6F76"/>
                </a:solidFill>
                <a:latin typeface="Calibri" pitchFamily="34" charset="0"/>
                <a:ea typeface="Calibri" pitchFamily="34" charset="-122"/>
                <a:cs typeface="Calibri" pitchFamily="34" charset="-120"/>
              </a:rPr>
              <a:t>Afterclass</a:t>
            </a:r>
            <a:endParaRPr lang="en-US" sz="900" dirty="0"/>
          </a:p>
        </p:txBody>
      </p:sp>
      <p:sp>
        <p:nvSpPr>
          <p:cNvPr id="4" name="Text 1"/>
          <p:cNvSpPr txBox="1"/>
          <p:nvPr/>
        </p:nvSpPr>
        <p:spPr>
          <a:xfrm>
            <a:off x="7955280" y="4690872"/>
            <a:ext cx="731520" cy="256032"/>
          </a:xfrm>
          <a:prstGeom prst="rect">
            <a:avLst/>
          </a:prstGeom>
          <a:noFill/>
          <a:ln/>
        </p:spPr>
        <p:txBody>
          <a:bodyPr wrap="square" lIns="0" tIns="0" rIns="0" bIns="0" rtlCol="0" anchor="ctr"/>
          <a:lstStyle/>
          <a:p>
            <a:pPr algn="r" indent="0" marL="0">
              <a:buNone/>
            </a:pPr>
            <a:r>
              <a:rPr lang="en-US" sz="900" dirty="0">
                <a:solidFill>
                  <a:srgbClr val="5F6F76"/>
                </a:solidFill>
                <a:latin typeface="Calibri" pitchFamily="34" charset="0"/>
                <a:ea typeface="Calibri" pitchFamily="34" charset="-122"/>
                <a:cs typeface="Calibri" pitchFamily="34" charset="-120"/>
              </a:rPr>
              <a:t>04</a:t>
            </a:r>
            <a:endParaRPr lang="en-US" sz="900" dirty="0"/>
          </a:p>
        </p:txBody>
      </p:sp>
      <p:sp>
        <p:nvSpPr>
          <p:cNvPr id="5" name="Text 2"/>
          <p:cNvSpPr txBox="1"/>
          <p:nvPr/>
        </p:nvSpPr>
        <p:spPr>
          <a:xfrm>
            <a:off x="457200" y="384048"/>
            <a:ext cx="8229600" cy="685800"/>
          </a:xfrm>
          <a:prstGeom prst="rect">
            <a:avLst/>
          </a:prstGeom>
          <a:noFill/>
          <a:ln/>
        </p:spPr>
        <p:txBody>
          <a:bodyPr wrap="square" lIns="0" tIns="0" rIns="0" bIns="0" rtlCol="0" anchor="ctr"/>
          <a:lstStyle/>
          <a:p>
            <a:pPr indent="0" marL="0">
              <a:buNone/>
            </a:pPr>
            <a:r>
              <a:rPr lang="en-US" sz="2800" dirty="0">
                <a:solidFill>
                  <a:srgbClr val="203A44"/>
                </a:solidFill>
                <a:latin typeface="Georgia" pitchFamily="34" charset="0"/>
                <a:ea typeface="Georgia" pitchFamily="34" charset="-122"/>
                <a:cs typeface="Georgia" pitchFamily="34" charset="-120"/>
              </a:rPr>
              <a:t>One overlay, on the same tab.</a:t>
            </a:r>
            <a:endParaRPr lang="en-US" sz="2800" dirty="0"/>
          </a:p>
        </p:txBody>
      </p:sp>
      <p:sp>
        <p:nvSpPr>
          <p:cNvPr id="6" name="Shape 3"/>
          <p:cNvSpPr/>
          <p:nvPr/>
        </p:nvSpPr>
        <p:spPr>
          <a:xfrm>
            <a:off x="457200" y="1280160"/>
            <a:ext cx="2560320" cy="1325880"/>
          </a:xfrm>
          <a:prstGeom prst="roundRect">
            <a:avLst>
              <a:gd name="adj" fmla="val 8276"/>
            </a:avLst>
          </a:prstGeom>
          <a:solidFill>
            <a:srgbClr val="FFFFFF"/>
          </a:solidFill>
          <a:ln w="9525">
            <a:solidFill>
              <a:srgbClr val="DEDFD4"/>
            </a:solidFill>
            <a:prstDash val="solid"/>
          </a:ln>
        </p:spPr>
      </p:sp>
      <p:sp>
        <p:nvSpPr>
          <p:cNvPr id="7" name="Shape 4"/>
          <p:cNvSpPr/>
          <p:nvPr/>
        </p:nvSpPr>
        <p:spPr>
          <a:xfrm>
            <a:off x="685800" y="1508760"/>
            <a:ext cx="457200" cy="457200"/>
          </a:xfrm>
          <a:prstGeom prst="ellipse">
            <a:avLst/>
          </a:prstGeom>
          <a:solidFill>
            <a:srgbClr val="426951"/>
          </a:solidFill>
          <a:ln w="12700">
            <a:solidFill>
              <a:srgbClr val="426951"/>
            </a:solidFill>
            <a:prstDash val="solid"/>
          </a:ln>
        </p:spPr>
      </p:sp>
      <p:pic>
        <p:nvPicPr>
          <p:cNvPr id="8" name="Image 1" descr="preencoded.png">    </p:cNvPr>
          <p:cNvPicPr>
            <a:picLocks noChangeAspect="1"/>
          </p:cNvPicPr>
          <p:nvPr/>
        </p:nvPicPr>
        <p:blipFill>
          <a:blip r:embed="rId2"/>
          <a:stretch>
            <a:fillRect/>
          </a:stretch>
        </p:blipFill>
        <p:spPr>
          <a:xfrm>
            <a:off x="804672" y="1627632"/>
            <a:ext cx="219456" cy="219456"/>
          </a:xfrm>
          <a:prstGeom prst="rect">
            <a:avLst/>
          </a:prstGeom>
        </p:spPr>
      </p:pic>
      <p:sp>
        <p:nvSpPr>
          <p:cNvPr id="9" name="Text 5"/>
          <p:cNvSpPr txBox="1"/>
          <p:nvPr/>
        </p:nvSpPr>
        <p:spPr>
          <a:xfrm>
            <a:off x="685800" y="2057400"/>
            <a:ext cx="2148840" cy="274320"/>
          </a:xfrm>
          <a:prstGeom prst="rect">
            <a:avLst/>
          </a:prstGeom>
          <a:noFill/>
          <a:ln/>
        </p:spPr>
        <p:txBody>
          <a:bodyPr wrap="square" lIns="0" tIns="0" rIns="0" bIns="0" rtlCol="0" anchor="t"/>
          <a:lstStyle/>
          <a:p>
            <a:pPr indent="0" marL="0">
              <a:buNone/>
            </a:pPr>
            <a:r>
              <a:rPr lang="en-US" sz="1300" b="1" dirty="0">
                <a:solidFill>
                  <a:srgbClr val="203A44"/>
                </a:solidFill>
                <a:latin typeface="Calibri" pitchFamily="34" charset="0"/>
                <a:ea typeface="Calibri" pitchFamily="34" charset="-122"/>
                <a:cs typeface="Calibri" pitchFamily="34" charset="-120"/>
              </a:rPr>
              <a:t>Study these together</a:t>
            </a:r>
            <a:endParaRPr lang="en-US" sz="1300" dirty="0"/>
          </a:p>
        </p:txBody>
      </p:sp>
      <p:sp>
        <p:nvSpPr>
          <p:cNvPr id="10" name="Text 6"/>
          <p:cNvSpPr txBox="1"/>
          <p:nvPr/>
        </p:nvSpPr>
        <p:spPr>
          <a:xfrm>
            <a:off x="685800" y="2313432"/>
            <a:ext cx="2148840" cy="274320"/>
          </a:xfrm>
          <a:prstGeom prst="rect">
            <a:avLst/>
          </a:prstGeom>
          <a:noFill/>
          <a:ln/>
        </p:spPr>
        <p:txBody>
          <a:bodyPr wrap="square" lIns="0" tIns="0" rIns="0" bIns="0" rtlCol="0" anchor="t"/>
          <a:lstStyle/>
          <a:p>
            <a:pPr indent="0" marL="0">
              <a:buNone/>
            </a:pPr>
            <a:r>
              <a:rPr lang="en-US" sz="1050" dirty="0">
                <a:solidFill>
                  <a:srgbClr val="5F6F76"/>
                </a:solidFill>
                <a:latin typeface="Calibri" pitchFamily="34" charset="0"/>
                <a:ea typeface="Calibri" pitchFamily="34" charset="-122"/>
                <a:cs typeface="Calibri" pitchFamily="34" charset="-120"/>
              </a:rPr>
              <a:t>PDFs open beside the lesson.</a:t>
            </a:r>
            <a:endParaRPr lang="en-US" sz="1050" dirty="0"/>
          </a:p>
        </p:txBody>
      </p:sp>
      <p:sp>
        <p:nvSpPr>
          <p:cNvPr id="11" name="Shape 7"/>
          <p:cNvSpPr/>
          <p:nvPr/>
        </p:nvSpPr>
        <p:spPr>
          <a:xfrm>
            <a:off x="3291840" y="1280160"/>
            <a:ext cx="2560320" cy="1325880"/>
          </a:xfrm>
          <a:prstGeom prst="roundRect">
            <a:avLst>
              <a:gd name="adj" fmla="val 8276"/>
            </a:avLst>
          </a:prstGeom>
          <a:solidFill>
            <a:srgbClr val="FFFFFF"/>
          </a:solidFill>
          <a:ln w="9525">
            <a:solidFill>
              <a:srgbClr val="DEDFD4"/>
            </a:solidFill>
            <a:prstDash val="solid"/>
          </a:ln>
        </p:spPr>
      </p:sp>
      <p:sp>
        <p:nvSpPr>
          <p:cNvPr id="12" name="Shape 8"/>
          <p:cNvSpPr/>
          <p:nvPr/>
        </p:nvSpPr>
        <p:spPr>
          <a:xfrm>
            <a:off x="3520440" y="1508760"/>
            <a:ext cx="457200" cy="457200"/>
          </a:xfrm>
          <a:prstGeom prst="ellipse">
            <a:avLst/>
          </a:prstGeom>
          <a:solidFill>
            <a:srgbClr val="426951"/>
          </a:solidFill>
          <a:ln w="12700">
            <a:solidFill>
              <a:srgbClr val="426951"/>
            </a:solidFill>
            <a:prstDash val="solid"/>
          </a:ln>
        </p:spPr>
      </p:sp>
      <p:pic>
        <p:nvPicPr>
          <p:cNvPr id="13" name="Image 2" descr="preencoded.png">    </p:cNvPr>
          <p:cNvPicPr>
            <a:picLocks noChangeAspect="1"/>
          </p:cNvPicPr>
          <p:nvPr/>
        </p:nvPicPr>
        <p:blipFill>
          <a:blip r:embed="rId3"/>
          <a:stretch>
            <a:fillRect/>
          </a:stretch>
        </p:blipFill>
        <p:spPr>
          <a:xfrm>
            <a:off x="3639312" y="1627632"/>
            <a:ext cx="219456" cy="219456"/>
          </a:xfrm>
          <a:prstGeom prst="rect">
            <a:avLst/>
          </a:prstGeom>
        </p:spPr>
      </p:pic>
      <p:sp>
        <p:nvSpPr>
          <p:cNvPr id="14" name="Text 9"/>
          <p:cNvSpPr txBox="1"/>
          <p:nvPr/>
        </p:nvSpPr>
        <p:spPr>
          <a:xfrm>
            <a:off x="3520440" y="2057400"/>
            <a:ext cx="2148840" cy="274320"/>
          </a:xfrm>
          <a:prstGeom prst="rect">
            <a:avLst/>
          </a:prstGeom>
          <a:noFill/>
          <a:ln/>
        </p:spPr>
        <p:txBody>
          <a:bodyPr wrap="square" lIns="0" tIns="0" rIns="0" bIns="0" rtlCol="0" anchor="t"/>
          <a:lstStyle/>
          <a:p>
            <a:pPr indent="0" marL="0">
              <a:buNone/>
            </a:pPr>
            <a:r>
              <a:rPr lang="en-US" sz="1300" b="1" dirty="0">
                <a:solidFill>
                  <a:srgbClr val="203A44"/>
                </a:solidFill>
                <a:latin typeface="Calibri" pitchFamily="34" charset="0"/>
                <a:ea typeface="Calibri" pitchFamily="34" charset="-122"/>
                <a:cs typeface="Calibri" pitchFamily="34" charset="-120"/>
              </a:rPr>
              <a:t>Click-to-open citations</a:t>
            </a:r>
            <a:endParaRPr lang="en-US" sz="1300" dirty="0"/>
          </a:p>
        </p:txBody>
      </p:sp>
      <p:sp>
        <p:nvSpPr>
          <p:cNvPr id="15" name="Text 10"/>
          <p:cNvSpPr txBox="1"/>
          <p:nvPr/>
        </p:nvSpPr>
        <p:spPr>
          <a:xfrm>
            <a:off x="3520440" y="2313432"/>
            <a:ext cx="2148840" cy="274320"/>
          </a:xfrm>
          <a:prstGeom prst="rect">
            <a:avLst/>
          </a:prstGeom>
          <a:noFill/>
          <a:ln/>
        </p:spPr>
        <p:txBody>
          <a:bodyPr wrap="square" lIns="0" tIns="0" rIns="0" bIns="0" rtlCol="0" anchor="t"/>
          <a:lstStyle/>
          <a:p>
            <a:pPr indent="0" marL="0">
              <a:buNone/>
            </a:pPr>
            <a:r>
              <a:rPr lang="en-US" sz="1050" dirty="0">
                <a:solidFill>
                  <a:srgbClr val="5F6F76"/>
                </a:solidFill>
                <a:latin typeface="Calibri" pitchFamily="34" charset="0"/>
                <a:ea typeface="Calibri" pitchFamily="34" charset="-122"/>
                <a:cs typeface="Calibri" pitchFamily="34" charset="-120"/>
              </a:rPr>
              <a:t>Every explanation points to a passage.</a:t>
            </a:r>
            <a:endParaRPr lang="en-US" sz="1050" dirty="0"/>
          </a:p>
        </p:txBody>
      </p:sp>
      <p:sp>
        <p:nvSpPr>
          <p:cNvPr id="16" name="Shape 11"/>
          <p:cNvSpPr/>
          <p:nvPr/>
        </p:nvSpPr>
        <p:spPr>
          <a:xfrm>
            <a:off x="6126480" y="1280160"/>
            <a:ext cx="2560320" cy="1325880"/>
          </a:xfrm>
          <a:prstGeom prst="roundRect">
            <a:avLst>
              <a:gd name="adj" fmla="val 8276"/>
            </a:avLst>
          </a:prstGeom>
          <a:solidFill>
            <a:srgbClr val="FFFFFF"/>
          </a:solidFill>
          <a:ln w="9525">
            <a:solidFill>
              <a:srgbClr val="DEDFD4"/>
            </a:solidFill>
            <a:prstDash val="solid"/>
          </a:ln>
        </p:spPr>
      </p:sp>
      <p:sp>
        <p:nvSpPr>
          <p:cNvPr id="17" name="Shape 12"/>
          <p:cNvSpPr/>
          <p:nvPr/>
        </p:nvSpPr>
        <p:spPr>
          <a:xfrm>
            <a:off x="6355080" y="1508760"/>
            <a:ext cx="457200" cy="457200"/>
          </a:xfrm>
          <a:prstGeom prst="ellipse">
            <a:avLst/>
          </a:prstGeom>
          <a:solidFill>
            <a:srgbClr val="426951"/>
          </a:solidFill>
          <a:ln w="12700">
            <a:solidFill>
              <a:srgbClr val="426951"/>
            </a:solidFill>
            <a:prstDash val="solid"/>
          </a:ln>
        </p:spPr>
      </p:sp>
      <p:pic>
        <p:nvPicPr>
          <p:cNvPr id="18" name="Image 3" descr="preencoded.png">    </p:cNvPr>
          <p:cNvPicPr>
            <a:picLocks noChangeAspect="1"/>
          </p:cNvPicPr>
          <p:nvPr/>
        </p:nvPicPr>
        <p:blipFill>
          <a:blip r:embed="rId4"/>
          <a:stretch>
            <a:fillRect/>
          </a:stretch>
        </p:blipFill>
        <p:spPr>
          <a:xfrm>
            <a:off x="6473952" y="1627632"/>
            <a:ext cx="219456" cy="219456"/>
          </a:xfrm>
          <a:prstGeom prst="rect">
            <a:avLst/>
          </a:prstGeom>
        </p:spPr>
      </p:pic>
      <p:sp>
        <p:nvSpPr>
          <p:cNvPr id="19" name="Text 13"/>
          <p:cNvSpPr txBox="1"/>
          <p:nvPr/>
        </p:nvSpPr>
        <p:spPr>
          <a:xfrm>
            <a:off x="6355080" y="2057400"/>
            <a:ext cx="2148840" cy="274320"/>
          </a:xfrm>
          <a:prstGeom prst="rect">
            <a:avLst/>
          </a:prstGeom>
          <a:noFill/>
          <a:ln/>
        </p:spPr>
        <p:txBody>
          <a:bodyPr wrap="square" lIns="0" tIns="0" rIns="0" bIns="0" rtlCol="0" anchor="t"/>
          <a:lstStyle/>
          <a:p>
            <a:pPr indent="0" marL="0">
              <a:buNone/>
            </a:pPr>
            <a:r>
              <a:rPr lang="en-US" sz="1300" b="1" dirty="0">
                <a:solidFill>
                  <a:srgbClr val="203A44"/>
                </a:solidFill>
                <a:latin typeface="Calibri" pitchFamily="34" charset="0"/>
                <a:ea typeface="Calibri" pitchFamily="34" charset="-122"/>
                <a:cs typeface="Calibri" pitchFamily="34" charset="-120"/>
              </a:rPr>
              <a:t>Teaching that adapts</a:t>
            </a:r>
            <a:endParaRPr lang="en-US" sz="1300" dirty="0"/>
          </a:p>
        </p:txBody>
      </p:sp>
      <p:sp>
        <p:nvSpPr>
          <p:cNvPr id="20" name="Text 14"/>
          <p:cNvSpPr txBox="1"/>
          <p:nvPr/>
        </p:nvSpPr>
        <p:spPr>
          <a:xfrm>
            <a:off x="6355080" y="2313432"/>
            <a:ext cx="2148840" cy="274320"/>
          </a:xfrm>
          <a:prstGeom prst="rect">
            <a:avLst/>
          </a:prstGeom>
          <a:noFill/>
          <a:ln/>
        </p:spPr>
        <p:txBody>
          <a:bodyPr wrap="square" lIns="0" tIns="0" rIns="0" bIns="0" rtlCol="0" anchor="t"/>
          <a:lstStyle/>
          <a:p>
            <a:pPr indent="0" marL="0">
              <a:buNone/>
            </a:pPr>
            <a:r>
              <a:rPr lang="en-US" sz="1050" dirty="0">
                <a:solidFill>
                  <a:srgbClr val="5F6F76"/>
                </a:solidFill>
                <a:latin typeface="Calibri" pitchFamily="34" charset="0"/>
                <a:ea typeface="Calibri" pitchFamily="34" charset="-122"/>
                <a:cs typeface="Calibri" pitchFamily="34" charset="-120"/>
              </a:rPr>
              <a:t>Wrong? Reteach. Right? Move on.</a:t>
            </a:r>
            <a:endParaRPr lang="en-US" sz="1050" dirty="0"/>
          </a:p>
        </p:txBody>
      </p:sp>
      <p:sp>
        <p:nvSpPr>
          <p:cNvPr id="21" name="Shape 15"/>
          <p:cNvSpPr/>
          <p:nvPr/>
        </p:nvSpPr>
        <p:spPr>
          <a:xfrm>
            <a:off x="457200" y="2880360"/>
            <a:ext cx="2560320" cy="1325880"/>
          </a:xfrm>
          <a:prstGeom prst="roundRect">
            <a:avLst>
              <a:gd name="adj" fmla="val 8276"/>
            </a:avLst>
          </a:prstGeom>
          <a:solidFill>
            <a:srgbClr val="FFFFFF"/>
          </a:solidFill>
          <a:ln w="9525">
            <a:solidFill>
              <a:srgbClr val="DEDFD4"/>
            </a:solidFill>
            <a:prstDash val="solid"/>
          </a:ln>
        </p:spPr>
      </p:sp>
      <p:sp>
        <p:nvSpPr>
          <p:cNvPr id="22" name="Shape 16"/>
          <p:cNvSpPr/>
          <p:nvPr/>
        </p:nvSpPr>
        <p:spPr>
          <a:xfrm>
            <a:off x="685800" y="3108960"/>
            <a:ext cx="457200" cy="457200"/>
          </a:xfrm>
          <a:prstGeom prst="ellipse">
            <a:avLst/>
          </a:prstGeom>
          <a:solidFill>
            <a:srgbClr val="426951"/>
          </a:solidFill>
          <a:ln w="12700">
            <a:solidFill>
              <a:srgbClr val="426951"/>
            </a:solidFill>
            <a:prstDash val="solid"/>
          </a:ln>
        </p:spPr>
      </p:sp>
      <p:pic>
        <p:nvPicPr>
          <p:cNvPr id="23" name="Image 4" descr="preencoded.png">    </p:cNvPr>
          <p:cNvPicPr>
            <a:picLocks noChangeAspect="1"/>
          </p:cNvPicPr>
          <p:nvPr/>
        </p:nvPicPr>
        <p:blipFill>
          <a:blip r:embed="rId5"/>
          <a:stretch>
            <a:fillRect/>
          </a:stretch>
        </p:blipFill>
        <p:spPr>
          <a:xfrm>
            <a:off x="804672" y="3227832"/>
            <a:ext cx="219456" cy="219456"/>
          </a:xfrm>
          <a:prstGeom prst="rect">
            <a:avLst/>
          </a:prstGeom>
        </p:spPr>
      </p:pic>
      <p:sp>
        <p:nvSpPr>
          <p:cNvPr id="24" name="Text 17"/>
          <p:cNvSpPr txBox="1"/>
          <p:nvPr/>
        </p:nvSpPr>
        <p:spPr>
          <a:xfrm>
            <a:off x="685800" y="3657600"/>
            <a:ext cx="2148840" cy="274320"/>
          </a:xfrm>
          <a:prstGeom prst="rect">
            <a:avLst/>
          </a:prstGeom>
          <a:noFill/>
          <a:ln/>
        </p:spPr>
        <p:txBody>
          <a:bodyPr wrap="square" lIns="0" tIns="0" rIns="0" bIns="0" rtlCol="0" anchor="t"/>
          <a:lstStyle/>
          <a:p>
            <a:pPr indent="0" marL="0">
              <a:buNone/>
            </a:pPr>
            <a:r>
              <a:rPr lang="en-US" sz="1300" b="1" dirty="0">
                <a:solidFill>
                  <a:srgbClr val="203A44"/>
                </a:solidFill>
                <a:latin typeface="Calibri" pitchFamily="34" charset="0"/>
                <a:ea typeface="Calibri" pitchFamily="34" charset="-122"/>
                <a:cs typeface="Calibri" pitchFamily="34" charset="-120"/>
              </a:rPr>
              <a:t>Catch Up in your time</a:t>
            </a:r>
            <a:endParaRPr lang="en-US" sz="1300" dirty="0"/>
          </a:p>
        </p:txBody>
      </p:sp>
      <p:sp>
        <p:nvSpPr>
          <p:cNvPr id="25" name="Text 18"/>
          <p:cNvSpPr txBox="1"/>
          <p:nvPr/>
        </p:nvSpPr>
        <p:spPr>
          <a:xfrm>
            <a:off x="685800" y="3913632"/>
            <a:ext cx="2148840" cy="274320"/>
          </a:xfrm>
          <a:prstGeom prst="rect">
            <a:avLst/>
          </a:prstGeom>
          <a:noFill/>
          <a:ln/>
        </p:spPr>
        <p:txBody>
          <a:bodyPr wrap="square" lIns="0" tIns="0" rIns="0" bIns="0" rtlCol="0" anchor="t"/>
          <a:lstStyle/>
          <a:p>
            <a:pPr indent="0" marL="0">
              <a:buNone/>
            </a:pPr>
            <a:r>
              <a:rPr lang="en-US" sz="1050" dirty="0">
                <a:solidFill>
                  <a:srgbClr val="5F6F76"/>
                </a:solidFill>
                <a:latin typeface="Calibri" pitchFamily="34" charset="0"/>
                <a:ea typeface="Calibri" pitchFamily="34" charset="-122"/>
                <a:cs typeface="Calibri" pitchFamily="34" charset="-120"/>
              </a:rPr>
              <a:t>15 minutes in. A cited plan out.</a:t>
            </a:r>
            <a:endParaRPr lang="en-US" sz="1050" dirty="0"/>
          </a:p>
        </p:txBody>
      </p:sp>
      <p:sp>
        <p:nvSpPr>
          <p:cNvPr id="26" name="Shape 19"/>
          <p:cNvSpPr/>
          <p:nvPr/>
        </p:nvSpPr>
        <p:spPr>
          <a:xfrm>
            <a:off x="3291840" y="2880360"/>
            <a:ext cx="2560320" cy="1325880"/>
          </a:xfrm>
          <a:prstGeom prst="roundRect">
            <a:avLst>
              <a:gd name="adj" fmla="val 8276"/>
            </a:avLst>
          </a:prstGeom>
          <a:solidFill>
            <a:srgbClr val="FFFFFF"/>
          </a:solidFill>
          <a:ln w="9525">
            <a:solidFill>
              <a:srgbClr val="DEDFD4"/>
            </a:solidFill>
            <a:prstDash val="solid"/>
          </a:ln>
        </p:spPr>
      </p:sp>
      <p:sp>
        <p:nvSpPr>
          <p:cNvPr id="27" name="Shape 20"/>
          <p:cNvSpPr/>
          <p:nvPr/>
        </p:nvSpPr>
        <p:spPr>
          <a:xfrm>
            <a:off x="3520440" y="3108960"/>
            <a:ext cx="457200" cy="457200"/>
          </a:xfrm>
          <a:prstGeom prst="ellipse">
            <a:avLst/>
          </a:prstGeom>
          <a:solidFill>
            <a:srgbClr val="426951"/>
          </a:solidFill>
          <a:ln w="12700">
            <a:solidFill>
              <a:srgbClr val="426951"/>
            </a:solidFill>
            <a:prstDash val="solid"/>
          </a:ln>
        </p:spPr>
      </p:sp>
      <p:pic>
        <p:nvPicPr>
          <p:cNvPr id="28" name="Image 5" descr="preencoded.png">    </p:cNvPr>
          <p:cNvPicPr>
            <a:picLocks noChangeAspect="1"/>
          </p:cNvPicPr>
          <p:nvPr/>
        </p:nvPicPr>
        <p:blipFill>
          <a:blip r:embed="rId6"/>
          <a:stretch>
            <a:fillRect/>
          </a:stretch>
        </p:blipFill>
        <p:spPr>
          <a:xfrm>
            <a:off x="3639312" y="3227832"/>
            <a:ext cx="219456" cy="219456"/>
          </a:xfrm>
          <a:prstGeom prst="rect">
            <a:avLst/>
          </a:prstGeom>
        </p:spPr>
      </p:pic>
      <p:sp>
        <p:nvSpPr>
          <p:cNvPr id="29" name="Text 21"/>
          <p:cNvSpPr txBox="1"/>
          <p:nvPr/>
        </p:nvSpPr>
        <p:spPr>
          <a:xfrm>
            <a:off x="3520440" y="3657600"/>
            <a:ext cx="2148840" cy="274320"/>
          </a:xfrm>
          <a:prstGeom prst="rect">
            <a:avLst/>
          </a:prstGeom>
          <a:noFill/>
          <a:ln/>
        </p:spPr>
        <p:txBody>
          <a:bodyPr wrap="square" lIns="0" tIns="0" rIns="0" bIns="0" rtlCol="0" anchor="t"/>
          <a:lstStyle/>
          <a:p>
            <a:pPr indent="0" marL="0">
              <a:buNone/>
            </a:pPr>
            <a:r>
              <a:rPr lang="en-US" sz="1300" b="1" dirty="0">
                <a:solidFill>
                  <a:srgbClr val="203A44"/>
                </a:solidFill>
                <a:latin typeface="Calibri" pitchFamily="34" charset="0"/>
                <a:ea typeface="Calibri" pitchFamily="34" charset="-122"/>
                <a:cs typeface="Calibri" pitchFamily="34" charset="-120"/>
              </a:rPr>
              <a:t>Sketch it. Ask about it.</a:t>
            </a:r>
            <a:endParaRPr lang="en-US" sz="1300" dirty="0"/>
          </a:p>
        </p:txBody>
      </p:sp>
      <p:sp>
        <p:nvSpPr>
          <p:cNvPr id="30" name="Text 22"/>
          <p:cNvSpPr txBox="1"/>
          <p:nvPr/>
        </p:nvSpPr>
        <p:spPr>
          <a:xfrm>
            <a:off x="3520440" y="3913632"/>
            <a:ext cx="2148840" cy="274320"/>
          </a:xfrm>
          <a:prstGeom prst="rect">
            <a:avLst/>
          </a:prstGeom>
          <a:noFill/>
          <a:ln/>
        </p:spPr>
        <p:txBody>
          <a:bodyPr wrap="square" lIns="0" tIns="0" rIns="0" bIns="0" rtlCol="0" anchor="t"/>
          <a:lstStyle/>
          <a:p>
            <a:pPr indent="0" marL="0">
              <a:buNone/>
            </a:pPr>
            <a:r>
              <a:rPr lang="en-US" sz="1050" dirty="0">
                <a:solidFill>
                  <a:srgbClr val="5F6F76"/>
                </a:solidFill>
                <a:latin typeface="Calibri" pitchFamily="34" charset="0"/>
                <a:ea typeface="Calibri" pitchFamily="34" charset="-122"/>
                <a:cs typeface="Calibri" pitchFamily="34" charset="-120"/>
              </a:rPr>
              <a:t>The tutor marks your shapes.</a:t>
            </a:r>
            <a:endParaRPr lang="en-US" sz="1050" dirty="0"/>
          </a:p>
        </p:txBody>
      </p:sp>
      <p:sp>
        <p:nvSpPr>
          <p:cNvPr id="31" name="Shape 23"/>
          <p:cNvSpPr/>
          <p:nvPr/>
        </p:nvSpPr>
        <p:spPr>
          <a:xfrm>
            <a:off x="6126480" y="2880360"/>
            <a:ext cx="2560320" cy="1325880"/>
          </a:xfrm>
          <a:prstGeom prst="roundRect">
            <a:avLst>
              <a:gd name="adj" fmla="val 8276"/>
            </a:avLst>
          </a:prstGeom>
          <a:solidFill>
            <a:srgbClr val="FFFFFF"/>
          </a:solidFill>
          <a:ln w="9525">
            <a:solidFill>
              <a:srgbClr val="DEDFD4"/>
            </a:solidFill>
            <a:prstDash val="solid"/>
          </a:ln>
        </p:spPr>
      </p:sp>
      <p:sp>
        <p:nvSpPr>
          <p:cNvPr id="32" name="Shape 24"/>
          <p:cNvSpPr/>
          <p:nvPr/>
        </p:nvSpPr>
        <p:spPr>
          <a:xfrm>
            <a:off x="6355080" y="3108960"/>
            <a:ext cx="457200" cy="457200"/>
          </a:xfrm>
          <a:prstGeom prst="ellipse">
            <a:avLst/>
          </a:prstGeom>
          <a:solidFill>
            <a:srgbClr val="426951"/>
          </a:solidFill>
          <a:ln w="12700">
            <a:solidFill>
              <a:srgbClr val="426951"/>
            </a:solidFill>
            <a:prstDash val="solid"/>
          </a:ln>
        </p:spPr>
      </p:sp>
      <p:pic>
        <p:nvPicPr>
          <p:cNvPr id="33" name="Image 6" descr="preencoded.png">    </p:cNvPr>
          <p:cNvPicPr>
            <a:picLocks noChangeAspect="1"/>
          </p:cNvPicPr>
          <p:nvPr/>
        </p:nvPicPr>
        <p:blipFill>
          <a:blip r:embed="rId7"/>
          <a:stretch>
            <a:fillRect/>
          </a:stretch>
        </p:blipFill>
        <p:spPr>
          <a:xfrm>
            <a:off x="6473952" y="3227832"/>
            <a:ext cx="219456" cy="219456"/>
          </a:xfrm>
          <a:prstGeom prst="rect">
            <a:avLst/>
          </a:prstGeom>
        </p:spPr>
      </p:pic>
      <p:sp>
        <p:nvSpPr>
          <p:cNvPr id="34" name="Text 25"/>
          <p:cNvSpPr txBox="1"/>
          <p:nvPr/>
        </p:nvSpPr>
        <p:spPr>
          <a:xfrm>
            <a:off x="6355080" y="3657600"/>
            <a:ext cx="2148840" cy="274320"/>
          </a:xfrm>
          <a:prstGeom prst="rect">
            <a:avLst/>
          </a:prstGeom>
          <a:noFill/>
          <a:ln/>
        </p:spPr>
        <p:txBody>
          <a:bodyPr wrap="square" lIns="0" tIns="0" rIns="0" bIns="0" rtlCol="0" anchor="t"/>
          <a:lstStyle/>
          <a:p>
            <a:pPr indent="0" marL="0">
              <a:buNone/>
            </a:pPr>
            <a:r>
              <a:rPr lang="en-US" sz="1300" b="1" dirty="0">
                <a:solidFill>
                  <a:srgbClr val="203A44"/>
                </a:solidFill>
                <a:latin typeface="Calibri" pitchFamily="34" charset="0"/>
                <a:ea typeface="Calibri" pitchFamily="34" charset="-122"/>
                <a:cs typeface="Calibri" pitchFamily="34" charset="-120"/>
              </a:rPr>
              <a:t>Teach me at the whiteboard</a:t>
            </a:r>
            <a:endParaRPr lang="en-US" sz="1300" dirty="0"/>
          </a:p>
        </p:txBody>
      </p:sp>
      <p:sp>
        <p:nvSpPr>
          <p:cNvPr id="35" name="Text 26"/>
          <p:cNvSpPr txBox="1"/>
          <p:nvPr/>
        </p:nvSpPr>
        <p:spPr>
          <a:xfrm>
            <a:off x="6355080" y="3913632"/>
            <a:ext cx="2148840" cy="274320"/>
          </a:xfrm>
          <a:prstGeom prst="rect">
            <a:avLst/>
          </a:prstGeom>
          <a:noFill/>
          <a:ln/>
        </p:spPr>
        <p:txBody>
          <a:bodyPr wrap="square" lIns="0" tIns="0" rIns="0" bIns="0" rtlCol="0" anchor="t"/>
          <a:lstStyle/>
          <a:p>
            <a:pPr indent="0" marL="0">
              <a:buNone/>
            </a:pPr>
            <a:r>
              <a:rPr lang="en-US" sz="1050" dirty="0">
                <a:solidFill>
                  <a:srgbClr val="5F6F76"/>
                </a:solidFill>
                <a:latin typeface="Calibri" pitchFamily="34" charset="0"/>
                <a:ea typeface="Calibri" pitchFamily="34" charset="-122"/>
                <a:cs typeface="Calibri" pitchFamily="34" charset="-120"/>
              </a:rPr>
              <a:t>The tutor draws the idea step by step.</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AF4"/>
        </a:solidFill>
      </p:bgPr>
    </p:bg>
    <p:spTree>
      <p:nvGrpSpPr>
        <p:cNvPr id="1" name=""/>
        <p:cNvGrpSpPr/>
        <p:nvPr/>
      </p:nvGrpSpPr>
      <p:grpSpPr>
        <a:xfrm>
          <a:off x="0" y="0"/>
          <a:ext cx="0" cy="0"/>
          <a:chOff x="0" y="0"/>
          <a:chExt cx="0" cy="0"/>
        </a:xfrm>
      </p:grpSpPr>
      <p:pic>
        <p:nvPicPr>
          <p:cNvPr id="2" name="Image 0" descr="/Users/chaipinzheng/Dev/agents-everywhere-2026/.claude/worktrees/agent-integration-slides-f8af74/assets/devpost/afterclass-icon.png">    </p:cNvPr>
          <p:cNvPicPr>
            <a:picLocks noChangeAspect="1"/>
          </p:cNvPicPr>
          <p:nvPr/>
        </p:nvPicPr>
        <p:blipFill>
          <a:blip r:embed="rId1"/>
          <a:stretch>
            <a:fillRect/>
          </a:stretch>
        </p:blipFill>
        <p:spPr>
          <a:xfrm>
            <a:off x="457200" y="4690872"/>
            <a:ext cx="256032" cy="256032"/>
          </a:xfrm>
          <a:prstGeom prst="rect">
            <a:avLst/>
          </a:prstGeom>
        </p:spPr>
      </p:pic>
      <p:sp>
        <p:nvSpPr>
          <p:cNvPr id="3" name="Text 0"/>
          <p:cNvSpPr txBox="1"/>
          <p:nvPr/>
        </p:nvSpPr>
        <p:spPr>
          <a:xfrm>
            <a:off x="777240" y="4690872"/>
            <a:ext cx="1828800" cy="256032"/>
          </a:xfrm>
          <a:prstGeom prst="rect">
            <a:avLst/>
          </a:prstGeom>
          <a:noFill/>
          <a:ln/>
        </p:spPr>
        <p:txBody>
          <a:bodyPr wrap="square" lIns="0" tIns="0" rIns="0" bIns="0" rtlCol="0" anchor="ctr"/>
          <a:lstStyle/>
          <a:p>
            <a:pPr indent="0" marL="0">
              <a:buNone/>
            </a:pPr>
            <a:r>
              <a:rPr lang="en-US" sz="900" dirty="0">
                <a:solidFill>
                  <a:srgbClr val="5F6F76"/>
                </a:solidFill>
                <a:latin typeface="Calibri" pitchFamily="34" charset="0"/>
                <a:ea typeface="Calibri" pitchFamily="34" charset="-122"/>
                <a:cs typeface="Calibri" pitchFamily="34" charset="-120"/>
              </a:rPr>
              <a:t>Afterclass</a:t>
            </a:r>
            <a:endParaRPr lang="en-US" sz="900" dirty="0"/>
          </a:p>
        </p:txBody>
      </p:sp>
      <p:sp>
        <p:nvSpPr>
          <p:cNvPr id="4" name="Text 1"/>
          <p:cNvSpPr txBox="1"/>
          <p:nvPr/>
        </p:nvSpPr>
        <p:spPr>
          <a:xfrm>
            <a:off x="7955280" y="4690872"/>
            <a:ext cx="731520" cy="256032"/>
          </a:xfrm>
          <a:prstGeom prst="rect">
            <a:avLst/>
          </a:prstGeom>
          <a:noFill/>
          <a:ln/>
        </p:spPr>
        <p:txBody>
          <a:bodyPr wrap="square" lIns="0" tIns="0" rIns="0" bIns="0" rtlCol="0" anchor="ctr"/>
          <a:lstStyle/>
          <a:p>
            <a:pPr algn="r" indent="0" marL="0">
              <a:buNone/>
            </a:pPr>
            <a:r>
              <a:rPr lang="en-US" sz="900" dirty="0">
                <a:solidFill>
                  <a:srgbClr val="5F6F76"/>
                </a:solidFill>
                <a:latin typeface="Calibri" pitchFamily="34" charset="0"/>
                <a:ea typeface="Calibri" pitchFamily="34" charset="-122"/>
                <a:cs typeface="Calibri" pitchFamily="34" charset="-120"/>
              </a:rPr>
              <a:t>05</a:t>
            </a:r>
            <a:endParaRPr lang="en-US" sz="900" dirty="0"/>
          </a:p>
        </p:txBody>
      </p:sp>
      <p:sp>
        <p:nvSpPr>
          <p:cNvPr id="5" name="Text 2"/>
          <p:cNvSpPr txBox="1"/>
          <p:nvPr/>
        </p:nvSpPr>
        <p:spPr>
          <a:xfrm>
            <a:off x="457200" y="384048"/>
            <a:ext cx="8229600" cy="685800"/>
          </a:xfrm>
          <a:prstGeom prst="rect">
            <a:avLst/>
          </a:prstGeom>
          <a:noFill/>
          <a:ln/>
        </p:spPr>
        <p:txBody>
          <a:bodyPr wrap="square" lIns="0" tIns="0" rIns="0" bIns="0" rtlCol="0" anchor="ctr"/>
          <a:lstStyle/>
          <a:p>
            <a:pPr indent="0" marL="0">
              <a:buNone/>
            </a:pPr>
            <a:r>
              <a:rPr lang="en-US" sz="2800" dirty="0">
                <a:solidFill>
                  <a:srgbClr val="203A44"/>
                </a:solidFill>
                <a:latin typeface="Georgia" pitchFamily="34" charset="0"/>
                <a:ea typeface="Georgia" pitchFamily="34" charset="-122"/>
                <a:cs typeface="Georgia" pitchFamily="34" charset="-120"/>
              </a:rPr>
              <a:t>The demo, in six moves.</a:t>
            </a:r>
            <a:endParaRPr lang="en-US" sz="2800" dirty="0"/>
          </a:p>
        </p:txBody>
      </p:sp>
      <p:sp>
        <p:nvSpPr>
          <p:cNvPr id="6" name="Shape 3"/>
          <p:cNvSpPr/>
          <p:nvPr/>
        </p:nvSpPr>
        <p:spPr>
          <a:xfrm>
            <a:off x="457200" y="1280160"/>
            <a:ext cx="2560320" cy="1325880"/>
          </a:xfrm>
          <a:prstGeom prst="roundRect">
            <a:avLst>
              <a:gd name="adj" fmla="val 8276"/>
            </a:avLst>
          </a:prstGeom>
          <a:solidFill>
            <a:srgbClr val="FFFFFF"/>
          </a:solidFill>
          <a:ln w="9525">
            <a:solidFill>
              <a:srgbClr val="DEDFD4"/>
            </a:solidFill>
            <a:prstDash val="solid"/>
          </a:ln>
        </p:spPr>
      </p:sp>
      <p:sp>
        <p:nvSpPr>
          <p:cNvPr id="7" name="Text 4"/>
          <p:cNvSpPr txBox="1"/>
          <p:nvPr/>
        </p:nvSpPr>
        <p:spPr>
          <a:xfrm>
            <a:off x="685800" y="1417320"/>
            <a:ext cx="822960" cy="411480"/>
          </a:xfrm>
          <a:prstGeom prst="rect">
            <a:avLst/>
          </a:prstGeom>
          <a:noFill/>
          <a:ln/>
        </p:spPr>
        <p:txBody>
          <a:bodyPr wrap="square" lIns="0" tIns="0" rIns="0" bIns="0" rtlCol="0" anchor="t"/>
          <a:lstStyle/>
          <a:p>
            <a:pPr indent="0" marL="0">
              <a:buNone/>
            </a:pPr>
            <a:r>
              <a:rPr lang="en-US" sz="2400" dirty="0">
                <a:solidFill>
                  <a:srgbClr val="AD762E"/>
                </a:solidFill>
                <a:latin typeface="Georgia" pitchFamily="34" charset="0"/>
                <a:ea typeface="Georgia" pitchFamily="34" charset="-122"/>
                <a:cs typeface="Georgia" pitchFamily="34" charset="-120"/>
              </a:rPr>
              <a:t>01</a:t>
            </a:r>
            <a:endParaRPr lang="en-US" sz="2400" dirty="0"/>
          </a:p>
        </p:txBody>
      </p:sp>
      <p:sp>
        <p:nvSpPr>
          <p:cNvPr id="8" name="Text 5"/>
          <p:cNvSpPr txBox="1"/>
          <p:nvPr/>
        </p:nvSpPr>
        <p:spPr>
          <a:xfrm>
            <a:off x="685800" y="1874520"/>
            <a:ext cx="2148840" cy="274320"/>
          </a:xfrm>
          <a:prstGeom prst="rect">
            <a:avLst/>
          </a:prstGeom>
          <a:noFill/>
          <a:ln/>
        </p:spPr>
        <p:txBody>
          <a:bodyPr wrap="square" lIns="0" tIns="0" rIns="0" bIns="0" rtlCol="0" anchor="t"/>
          <a:lstStyle/>
          <a:p>
            <a:pPr indent="0" marL="0">
              <a:buNone/>
            </a:pPr>
            <a:r>
              <a:rPr lang="en-US" sz="1350" b="1" dirty="0">
                <a:solidFill>
                  <a:srgbClr val="203A44"/>
                </a:solidFill>
                <a:latin typeface="Calibri" pitchFamily="34" charset="0"/>
                <a:ea typeface="Calibri" pitchFamily="34" charset="-122"/>
                <a:cs typeface="Calibri" pitchFamily="34" charset="-120"/>
              </a:rPr>
              <a:t>Tick two electricity posts</a:t>
            </a:r>
            <a:endParaRPr lang="en-US" sz="1350" dirty="0"/>
          </a:p>
        </p:txBody>
      </p:sp>
      <p:sp>
        <p:nvSpPr>
          <p:cNvPr id="9" name="Text 6"/>
          <p:cNvSpPr txBox="1"/>
          <p:nvPr/>
        </p:nvSpPr>
        <p:spPr>
          <a:xfrm>
            <a:off x="685800" y="2167128"/>
            <a:ext cx="2148840" cy="320040"/>
          </a:xfrm>
          <a:prstGeom prst="rect">
            <a:avLst/>
          </a:prstGeom>
          <a:noFill/>
          <a:ln/>
        </p:spPr>
        <p:txBody>
          <a:bodyPr wrap="square" lIns="0" tIns="0" rIns="0" bIns="0" rtlCol="0" anchor="t"/>
          <a:lstStyle/>
          <a:p>
            <a:pPr indent="0" marL="0">
              <a:buNone/>
            </a:pPr>
            <a:r>
              <a:rPr lang="en-US" sz="1150" dirty="0">
                <a:solidFill>
                  <a:srgbClr val="5F6F76"/>
                </a:solidFill>
                <a:latin typeface="Calibri" pitchFamily="34" charset="0"/>
                <a:ea typeface="Calibri" pitchFamily="34" charset="-122"/>
                <a:cs typeface="Calibri" pitchFamily="34" charset="-120"/>
              </a:rPr>
              <a:t>Study these together.</a:t>
            </a:r>
            <a:endParaRPr lang="en-US" sz="1150" dirty="0"/>
          </a:p>
        </p:txBody>
      </p:sp>
      <p:sp>
        <p:nvSpPr>
          <p:cNvPr id="10" name="Shape 7"/>
          <p:cNvSpPr/>
          <p:nvPr/>
        </p:nvSpPr>
        <p:spPr>
          <a:xfrm>
            <a:off x="3291840" y="1280160"/>
            <a:ext cx="2560320" cy="1325880"/>
          </a:xfrm>
          <a:prstGeom prst="roundRect">
            <a:avLst>
              <a:gd name="adj" fmla="val 8276"/>
            </a:avLst>
          </a:prstGeom>
          <a:solidFill>
            <a:srgbClr val="FFFFFF"/>
          </a:solidFill>
          <a:ln w="9525">
            <a:solidFill>
              <a:srgbClr val="DEDFD4"/>
            </a:solidFill>
            <a:prstDash val="solid"/>
          </a:ln>
        </p:spPr>
      </p:sp>
      <p:sp>
        <p:nvSpPr>
          <p:cNvPr id="11" name="Text 8"/>
          <p:cNvSpPr txBox="1"/>
          <p:nvPr/>
        </p:nvSpPr>
        <p:spPr>
          <a:xfrm>
            <a:off x="3520440" y="1417320"/>
            <a:ext cx="822960" cy="411480"/>
          </a:xfrm>
          <a:prstGeom prst="rect">
            <a:avLst/>
          </a:prstGeom>
          <a:noFill/>
          <a:ln/>
        </p:spPr>
        <p:txBody>
          <a:bodyPr wrap="square" lIns="0" tIns="0" rIns="0" bIns="0" rtlCol="0" anchor="t"/>
          <a:lstStyle/>
          <a:p>
            <a:pPr indent="0" marL="0">
              <a:buNone/>
            </a:pPr>
            <a:r>
              <a:rPr lang="en-US" sz="2400" dirty="0">
                <a:solidFill>
                  <a:srgbClr val="AD762E"/>
                </a:solidFill>
                <a:latin typeface="Georgia" pitchFamily="34" charset="0"/>
                <a:ea typeface="Georgia" pitchFamily="34" charset="-122"/>
                <a:cs typeface="Georgia" pitchFamily="34" charset="-120"/>
              </a:rPr>
              <a:t>02</a:t>
            </a:r>
            <a:endParaRPr lang="en-US" sz="2400" dirty="0"/>
          </a:p>
        </p:txBody>
      </p:sp>
      <p:sp>
        <p:nvSpPr>
          <p:cNvPr id="12" name="Text 9"/>
          <p:cNvSpPr txBox="1"/>
          <p:nvPr/>
        </p:nvSpPr>
        <p:spPr>
          <a:xfrm>
            <a:off x="3520440" y="1874520"/>
            <a:ext cx="2148840" cy="274320"/>
          </a:xfrm>
          <a:prstGeom prst="rect">
            <a:avLst/>
          </a:prstGeom>
          <a:noFill/>
          <a:ln/>
        </p:spPr>
        <p:txBody>
          <a:bodyPr wrap="square" lIns="0" tIns="0" rIns="0" bIns="0" rtlCol="0" anchor="t"/>
          <a:lstStyle/>
          <a:p>
            <a:pPr indent="0" marL="0">
              <a:buNone/>
            </a:pPr>
            <a:r>
              <a:rPr lang="en-US" sz="1350" b="1" dirty="0">
                <a:solidFill>
                  <a:srgbClr val="203A44"/>
                </a:solidFill>
                <a:latin typeface="Calibri" pitchFamily="34" charset="0"/>
                <a:ea typeface="Calibri" pitchFamily="34" charset="-122"/>
                <a:cs typeface="Calibri" pitchFamily="34" charset="-120"/>
              </a:rPr>
              <a:t>Both PDFs open as tabs</a:t>
            </a:r>
            <a:endParaRPr lang="en-US" sz="1350" dirty="0"/>
          </a:p>
        </p:txBody>
      </p:sp>
      <p:sp>
        <p:nvSpPr>
          <p:cNvPr id="13" name="Text 10"/>
          <p:cNvSpPr txBox="1"/>
          <p:nvPr/>
        </p:nvSpPr>
        <p:spPr>
          <a:xfrm>
            <a:off x="3520440" y="2167128"/>
            <a:ext cx="2148840" cy="320040"/>
          </a:xfrm>
          <a:prstGeom prst="rect">
            <a:avLst/>
          </a:prstGeom>
          <a:noFill/>
          <a:ln/>
        </p:spPr>
        <p:txBody>
          <a:bodyPr wrap="square" lIns="0" tIns="0" rIns="0" bIns="0" rtlCol="0" anchor="t"/>
          <a:lstStyle/>
          <a:p>
            <a:pPr indent="0" marL="0">
              <a:buNone/>
            </a:pPr>
            <a:r>
              <a:rPr lang="en-US" sz="1150" dirty="0">
                <a:solidFill>
                  <a:srgbClr val="5F6F76"/>
                </a:solidFill>
                <a:latin typeface="Calibri" pitchFamily="34" charset="0"/>
                <a:ea typeface="Calibri" pitchFamily="34" charset="-122"/>
                <a:cs typeface="Calibri" pitchFamily="34" charset="-120"/>
              </a:rPr>
              <a:t>The teacher's real files.</a:t>
            </a:r>
            <a:endParaRPr lang="en-US" sz="1150" dirty="0"/>
          </a:p>
        </p:txBody>
      </p:sp>
      <p:sp>
        <p:nvSpPr>
          <p:cNvPr id="14" name="Shape 11"/>
          <p:cNvSpPr/>
          <p:nvPr/>
        </p:nvSpPr>
        <p:spPr>
          <a:xfrm>
            <a:off x="6126480" y="1280160"/>
            <a:ext cx="2560320" cy="1325880"/>
          </a:xfrm>
          <a:prstGeom prst="roundRect">
            <a:avLst>
              <a:gd name="adj" fmla="val 8276"/>
            </a:avLst>
          </a:prstGeom>
          <a:solidFill>
            <a:srgbClr val="FFFFFF"/>
          </a:solidFill>
          <a:ln w="9525">
            <a:solidFill>
              <a:srgbClr val="DEDFD4"/>
            </a:solidFill>
            <a:prstDash val="solid"/>
          </a:ln>
        </p:spPr>
      </p:sp>
      <p:sp>
        <p:nvSpPr>
          <p:cNvPr id="15" name="Text 12"/>
          <p:cNvSpPr txBox="1"/>
          <p:nvPr/>
        </p:nvSpPr>
        <p:spPr>
          <a:xfrm>
            <a:off x="6355080" y="1417320"/>
            <a:ext cx="822960" cy="411480"/>
          </a:xfrm>
          <a:prstGeom prst="rect">
            <a:avLst/>
          </a:prstGeom>
          <a:noFill/>
          <a:ln/>
        </p:spPr>
        <p:txBody>
          <a:bodyPr wrap="square" lIns="0" tIns="0" rIns="0" bIns="0" rtlCol="0" anchor="t"/>
          <a:lstStyle/>
          <a:p>
            <a:pPr indent="0" marL="0">
              <a:buNone/>
            </a:pPr>
            <a:r>
              <a:rPr lang="en-US" sz="2400" dirty="0">
                <a:solidFill>
                  <a:srgbClr val="AD762E"/>
                </a:solidFill>
                <a:latin typeface="Georgia" pitchFamily="34" charset="0"/>
                <a:ea typeface="Georgia" pitchFamily="34" charset="-122"/>
                <a:cs typeface="Georgia" pitchFamily="34" charset="-120"/>
              </a:rPr>
              <a:t>03</a:t>
            </a:r>
            <a:endParaRPr lang="en-US" sz="2400" dirty="0"/>
          </a:p>
        </p:txBody>
      </p:sp>
      <p:sp>
        <p:nvSpPr>
          <p:cNvPr id="16" name="Text 13"/>
          <p:cNvSpPr txBox="1"/>
          <p:nvPr/>
        </p:nvSpPr>
        <p:spPr>
          <a:xfrm>
            <a:off x="6355080" y="1874520"/>
            <a:ext cx="2148840" cy="274320"/>
          </a:xfrm>
          <a:prstGeom prst="rect">
            <a:avLst/>
          </a:prstGeom>
          <a:noFill/>
          <a:ln/>
        </p:spPr>
        <p:txBody>
          <a:bodyPr wrap="square" lIns="0" tIns="0" rIns="0" bIns="0" rtlCol="0" anchor="t"/>
          <a:lstStyle/>
          <a:p>
            <a:pPr indent="0" marL="0">
              <a:buNone/>
            </a:pPr>
            <a:r>
              <a:rPr lang="en-US" sz="1350" b="1" dirty="0">
                <a:solidFill>
                  <a:srgbClr val="203A44"/>
                </a:solidFill>
                <a:latin typeface="Calibri" pitchFamily="34" charset="0"/>
                <a:ea typeface="Calibri" pitchFamily="34" charset="-122"/>
                <a:cs typeface="Calibri" pitchFamily="34" charset="-120"/>
              </a:rPr>
              <a:t>15 minutes. Build my plan.</a:t>
            </a:r>
            <a:endParaRPr lang="en-US" sz="1350" dirty="0"/>
          </a:p>
        </p:txBody>
      </p:sp>
      <p:sp>
        <p:nvSpPr>
          <p:cNvPr id="17" name="Text 14"/>
          <p:cNvSpPr txBox="1"/>
          <p:nvPr/>
        </p:nvSpPr>
        <p:spPr>
          <a:xfrm>
            <a:off x="6355080" y="2167128"/>
            <a:ext cx="2148840" cy="320040"/>
          </a:xfrm>
          <a:prstGeom prst="rect">
            <a:avLst/>
          </a:prstGeom>
          <a:noFill/>
          <a:ln/>
        </p:spPr>
        <p:txBody>
          <a:bodyPr wrap="square" lIns="0" tIns="0" rIns="0" bIns="0" rtlCol="0" anchor="t"/>
          <a:lstStyle/>
          <a:p>
            <a:pPr indent="0" marL="0">
              <a:buNone/>
            </a:pPr>
            <a:r>
              <a:rPr lang="en-US" sz="1150" dirty="0">
                <a:solidFill>
                  <a:srgbClr val="5F6F76"/>
                </a:solidFill>
                <a:latin typeface="Calibri" pitchFamily="34" charset="0"/>
                <a:ea typeface="Calibri" pitchFamily="34" charset="-122"/>
                <a:cs typeface="Calibri" pitchFamily="34" charset="-120"/>
              </a:rPr>
              <a:t>Cited steps that fit.</a:t>
            </a:r>
            <a:endParaRPr lang="en-US" sz="1150" dirty="0"/>
          </a:p>
        </p:txBody>
      </p:sp>
      <p:sp>
        <p:nvSpPr>
          <p:cNvPr id="18" name="Shape 15"/>
          <p:cNvSpPr/>
          <p:nvPr/>
        </p:nvSpPr>
        <p:spPr>
          <a:xfrm>
            <a:off x="457200" y="2880360"/>
            <a:ext cx="2560320" cy="1325880"/>
          </a:xfrm>
          <a:prstGeom prst="roundRect">
            <a:avLst>
              <a:gd name="adj" fmla="val 8276"/>
            </a:avLst>
          </a:prstGeom>
          <a:solidFill>
            <a:srgbClr val="FFFFFF"/>
          </a:solidFill>
          <a:ln w="9525">
            <a:solidFill>
              <a:srgbClr val="DEDFD4"/>
            </a:solidFill>
            <a:prstDash val="solid"/>
          </a:ln>
        </p:spPr>
      </p:sp>
      <p:sp>
        <p:nvSpPr>
          <p:cNvPr id="19" name="Text 16"/>
          <p:cNvSpPr txBox="1"/>
          <p:nvPr/>
        </p:nvSpPr>
        <p:spPr>
          <a:xfrm>
            <a:off x="685800" y="3017520"/>
            <a:ext cx="822960" cy="411480"/>
          </a:xfrm>
          <a:prstGeom prst="rect">
            <a:avLst/>
          </a:prstGeom>
          <a:noFill/>
          <a:ln/>
        </p:spPr>
        <p:txBody>
          <a:bodyPr wrap="square" lIns="0" tIns="0" rIns="0" bIns="0" rtlCol="0" anchor="t"/>
          <a:lstStyle/>
          <a:p>
            <a:pPr indent="0" marL="0">
              <a:buNone/>
            </a:pPr>
            <a:r>
              <a:rPr lang="en-US" sz="2400" dirty="0">
                <a:solidFill>
                  <a:srgbClr val="AD762E"/>
                </a:solidFill>
                <a:latin typeface="Georgia" pitchFamily="34" charset="0"/>
                <a:ea typeface="Georgia" pitchFamily="34" charset="-122"/>
                <a:cs typeface="Georgia" pitchFamily="34" charset="-120"/>
              </a:rPr>
              <a:t>04</a:t>
            </a:r>
            <a:endParaRPr lang="en-US" sz="2400" dirty="0"/>
          </a:p>
        </p:txBody>
      </p:sp>
      <p:sp>
        <p:nvSpPr>
          <p:cNvPr id="20" name="Text 17"/>
          <p:cNvSpPr txBox="1"/>
          <p:nvPr/>
        </p:nvSpPr>
        <p:spPr>
          <a:xfrm>
            <a:off x="685800" y="3474720"/>
            <a:ext cx="2148840" cy="274320"/>
          </a:xfrm>
          <a:prstGeom prst="rect">
            <a:avLst/>
          </a:prstGeom>
          <a:noFill/>
          <a:ln/>
        </p:spPr>
        <p:txBody>
          <a:bodyPr wrap="square" lIns="0" tIns="0" rIns="0" bIns="0" rtlCol="0" anchor="t"/>
          <a:lstStyle/>
          <a:p>
            <a:pPr indent="0" marL="0">
              <a:buNone/>
            </a:pPr>
            <a:r>
              <a:rPr lang="en-US" sz="1350" b="1" dirty="0">
                <a:solidFill>
                  <a:srgbClr val="203A44"/>
                </a:solidFill>
                <a:latin typeface="Calibri" pitchFamily="34" charset="0"/>
                <a:ea typeface="Calibri" pitchFamily="34" charset="-122"/>
                <a:cs typeface="Calibri" pitchFamily="34" charset="-120"/>
              </a:rPr>
              <a:t>Ask across both documents</a:t>
            </a:r>
            <a:endParaRPr lang="en-US" sz="1350" dirty="0"/>
          </a:p>
        </p:txBody>
      </p:sp>
      <p:sp>
        <p:nvSpPr>
          <p:cNvPr id="21" name="Text 18"/>
          <p:cNvSpPr txBox="1"/>
          <p:nvPr/>
        </p:nvSpPr>
        <p:spPr>
          <a:xfrm>
            <a:off x="685800" y="3767328"/>
            <a:ext cx="2148840" cy="320040"/>
          </a:xfrm>
          <a:prstGeom prst="rect">
            <a:avLst/>
          </a:prstGeom>
          <a:noFill/>
          <a:ln/>
        </p:spPr>
        <p:txBody>
          <a:bodyPr wrap="square" lIns="0" tIns="0" rIns="0" bIns="0" rtlCol="0" anchor="t"/>
          <a:lstStyle/>
          <a:p>
            <a:pPr indent="0" marL="0">
              <a:buNone/>
            </a:pPr>
            <a:r>
              <a:rPr lang="en-US" sz="1150" dirty="0">
                <a:solidFill>
                  <a:srgbClr val="5F6F76"/>
                </a:solidFill>
                <a:latin typeface="Calibri" pitchFamily="34" charset="0"/>
                <a:ea typeface="Calibri" pitchFamily="34" charset="-122"/>
                <a:cs typeface="Calibri" pitchFamily="34" charset="-120"/>
              </a:rPr>
              <a:t>Or sketch it. The tutor marks your drawing.</a:t>
            </a:r>
            <a:endParaRPr lang="en-US" sz="1150" dirty="0"/>
          </a:p>
        </p:txBody>
      </p:sp>
      <p:sp>
        <p:nvSpPr>
          <p:cNvPr id="22" name="Shape 19"/>
          <p:cNvSpPr/>
          <p:nvPr/>
        </p:nvSpPr>
        <p:spPr>
          <a:xfrm>
            <a:off x="3291840" y="2880360"/>
            <a:ext cx="2560320" cy="1325880"/>
          </a:xfrm>
          <a:prstGeom prst="roundRect">
            <a:avLst>
              <a:gd name="adj" fmla="val 8276"/>
            </a:avLst>
          </a:prstGeom>
          <a:solidFill>
            <a:srgbClr val="FFFFFF"/>
          </a:solidFill>
          <a:ln w="9525">
            <a:solidFill>
              <a:srgbClr val="DEDFD4"/>
            </a:solidFill>
            <a:prstDash val="solid"/>
          </a:ln>
        </p:spPr>
      </p:sp>
      <p:sp>
        <p:nvSpPr>
          <p:cNvPr id="23" name="Text 20"/>
          <p:cNvSpPr txBox="1"/>
          <p:nvPr/>
        </p:nvSpPr>
        <p:spPr>
          <a:xfrm>
            <a:off x="3520440" y="3017520"/>
            <a:ext cx="822960" cy="411480"/>
          </a:xfrm>
          <a:prstGeom prst="rect">
            <a:avLst/>
          </a:prstGeom>
          <a:noFill/>
          <a:ln/>
        </p:spPr>
        <p:txBody>
          <a:bodyPr wrap="square" lIns="0" tIns="0" rIns="0" bIns="0" rtlCol="0" anchor="t"/>
          <a:lstStyle/>
          <a:p>
            <a:pPr indent="0" marL="0">
              <a:buNone/>
            </a:pPr>
            <a:r>
              <a:rPr lang="en-US" sz="2400" dirty="0">
                <a:solidFill>
                  <a:srgbClr val="AD762E"/>
                </a:solidFill>
                <a:latin typeface="Georgia" pitchFamily="34" charset="0"/>
                <a:ea typeface="Georgia" pitchFamily="34" charset="-122"/>
                <a:cs typeface="Georgia" pitchFamily="34" charset="-120"/>
              </a:rPr>
              <a:t>05</a:t>
            </a:r>
            <a:endParaRPr lang="en-US" sz="2400" dirty="0"/>
          </a:p>
        </p:txBody>
      </p:sp>
      <p:sp>
        <p:nvSpPr>
          <p:cNvPr id="24" name="Text 21"/>
          <p:cNvSpPr txBox="1"/>
          <p:nvPr/>
        </p:nvSpPr>
        <p:spPr>
          <a:xfrm>
            <a:off x="3520440" y="3474720"/>
            <a:ext cx="2148840" cy="274320"/>
          </a:xfrm>
          <a:prstGeom prst="rect">
            <a:avLst/>
          </a:prstGeom>
          <a:noFill/>
          <a:ln/>
        </p:spPr>
        <p:txBody>
          <a:bodyPr wrap="square" lIns="0" tIns="0" rIns="0" bIns="0" rtlCol="0" anchor="t"/>
          <a:lstStyle/>
          <a:p>
            <a:pPr indent="0" marL="0">
              <a:buNone/>
            </a:pPr>
            <a:r>
              <a:rPr lang="en-US" sz="1350" b="1" dirty="0">
                <a:solidFill>
                  <a:srgbClr val="203A44"/>
                </a:solidFill>
                <a:latin typeface="Calibri" pitchFamily="34" charset="0"/>
                <a:ea typeface="Calibri" pitchFamily="34" charset="-122"/>
                <a:cs typeface="Calibri" pitchFamily="34" charset="-120"/>
              </a:rPr>
              <a:t>Answer wrong on purpose</a:t>
            </a:r>
            <a:endParaRPr lang="en-US" sz="1350" dirty="0"/>
          </a:p>
        </p:txBody>
      </p:sp>
      <p:sp>
        <p:nvSpPr>
          <p:cNvPr id="25" name="Text 22"/>
          <p:cNvSpPr txBox="1"/>
          <p:nvPr/>
        </p:nvSpPr>
        <p:spPr>
          <a:xfrm>
            <a:off x="3520440" y="3767328"/>
            <a:ext cx="2148840" cy="320040"/>
          </a:xfrm>
          <a:prstGeom prst="rect">
            <a:avLst/>
          </a:prstGeom>
          <a:noFill/>
          <a:ln/>
        </p:spPr>
        <p:txBody>
          <a:bodyPr wrap="square" lIns="0" tIns="0" rIns="0" bIns="0" rtlCol="0" anchor="t"/>
          <a:lstStyle/>
          <a:p>
            <a:pPr indent="0" marL="0">
              <a:buNone/>
            </a:pPr>
            <a:r>
              <a:rPr lang="en-US" sz="1150" dirty="0">
                <a:solidFill>
                  <a:srgbClr val="5F6F76"/>
                </a:solidFill>
                <a:latin typeface="Calibri" pitchFamily="34" charset="0"/>
                <a:ea typeface="Calibri" pitchFamily="34" charset="-122"/>
                <a:cs typeface="Calibri" pitchFamily="34" charset="-120"/>
              </a:rPr>
              <a:t>The tutor reteaches. The plan reorders.</a:t>
            </a:r>
            <a:endParaRPr lang="en-US" sz="1150" dirty="0"/>
          </a:p>
        </p:txBody>
      </p:sp>
      <p:sp>
        <p:nvSpPr>
          <p:cNvPr id="26" name="Shape 23"/>
          <p:cNvSpPr/>
          <p:nvPr/>
        </p:nvSpPr>
        <p:spPr>
          <a:xfrm>
            <a:off x="6126480" y="2880360"/>
            <a:ext cx="2560320" cy="1325880"/>
          </a:xfrm>
          <a:prstGeom prst="roundRect">
            <a:avLst>
              <a:gd name="adj" fmla="val 8276"/>
            </a:avLst>
          </a:prstGeom>
          <a:solidFill>
            <a:srgbClr val="FFFFFF"/>
          </a:solidFill>
          <a:ln w="9525">
            <a:solidFill>
              <a:srgbClr val="DEDFD4"/>
            </a:solidFill>
            <a:prstDash val="solid"/>
          </a:ln>
        </p:spPr>
      </p:sp>
      <p:sp>
        <p:nvSpPr>
          <p:cNvPr id="27" name="Text 24"/>
          <p:cNvSpPr txBox="1"/>
          <p:nvPr/>
        </p:nvSpPr>
        <p:spPr>
          <a:xfrm>
            <a:off x="6355080" y="3017520"/>
            <a:ext cx="822960" cy="411480"/>
          </a:xfrm>
          <a:prstGeom prst="rect">
            <a:avLst/>
          </a:prstGeom>
          <a:noFill/>
          <a:ln/>
        </p:spPr>
        <p:txBody>
          <a:bodyPr wrap="square" lIns="0" tIns="0" rIns="0" bIns="0" rtlCol="0" anchor="t"/>
          <a:lstStyle/>
          <a:p>
            <a:pPr indent="0" marL="0">
              <a:buNone/>
            </a:pPr>
            <a:r>
              <a:rPr lang="en-US" sz="2400" dirty="0">
                <a:solidFill>
                  <a:srgbClr val="AD762E"/>
                </a:solidFill>
                <a:latin typeface="Georgia" pitchFamily="34" charset="0"/>
                <a:ea typeface="Georgia" pitchFamily="34" charset="-122"/>
                <a:cs typeface="Georgia" pitchFamily="34" charset="-120"/>
              </a:rPr>
              <a:t>06</a:t>
            </a:r>
            <a:endParaRPr lang="en-US" sz="2400" dirty="0"/>
          </a:p>
        </p:txBody>
      </p:sp>
      <p:sp>
        <p:nvSpPr>
          <p:cNvPr id="28" name="Text 25"/>
          <p:cNvSpPr txBox="1"/>
          <p:nvPr/>
        </p:nvSpPr>
        <p:spPr>
          <a:xfrm>
            <a:off x="6355080" y="3474720"/>
            <a:ext cx="2148840" cy="274320"/>
          </a:xfrm>
          <a:prstGeom prst="rect">
            <a:avLst/>
          </a:prstGeom>
          <a:noFill/>
          <a:ln/>
        </p:spPr>
        <p:txBody>
          <a:bodyPr wrap="square" lIns="0" tIns="0" rIns="0" bIns="0" rtlCol="0" anchor="t"/>
          <a:lstStyle/>
          <a:p>
            <a:pPr indent="0" marL="0">
              <a:buNone/>
            </a:pPr>
            <a:r>
              <a:rPr lang="en-US" sz="1350" b="1" dirty="0">
                <a:solidFill>
                  <a:srgbClr val="203A44"/>
                </a:solidFill>
                <a:latin typeface="Calibri" pitchFamily="34" charset="0"/>
                <a:ea typeface="Calibri" pitchFamily="34" charset="-122"/>
                <a:cs typeface="Calibri" pitchFamily="34" charset="-120"/>
              </a:rPr>
              <a:t>Teach it back. Close. Resume.</a:t>
            </a:r>
            <a:endParaRPr lang="en-US" sz="1350" dirty="0"/>
          </a:p>
        </p:txBody>
      </p:sp>
      <p:sp>
        <p:nvSpPr>
          <p:cNvPr id="29" name="Text 26"/>
          <p:cNvSpPr txBox="1"/>
          <p:nvPr/>
        </p:nvSpPr>
        <p:spPr>
          <a:xfrm>
            <a:off x="6355080" y="3767328"/>
            <a:ext cx="2148840" cy="320040"/>
          </a:xfrm>
          <a:prstGeom prst="rect">
            <a:avLst/>
          </a:prstGeom>
          <a:noFill/>
          <a:ln/>
        </p:spPr>
        <p:txBody>
          <a:bodyPr wrap="square" lIns="0" tIns="0" rIns="0" bIns="0" rtlCol="0" anchor="t"/>
          <a:lstStyle/>
          <a:p>
            <a:pPr indent="0" marL="0">
              <a:buNone/>
            </a:pPr>
            <a:r>
              <a:rPr lang="en-US" sz="1150" dirty="0">
                <a:solidFill>
                  <a:srgbClr val="5F6F76"/>
                </a:solidFill>
                <a:latin typeface="Calibri" pitchFamily="34" charset="0"/>
                <a:ea typeface="Calibri" pitchFamily="34" charset="-122"/>
                <a:cs typeface="Calibri" pitchFamily="34" charset="-120"/>
              </a:rPr>
              <a:t>Same Classroom page underneath.</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AF4"/>
        </a:solidFill>
      </p:bgPr>
    </p:bg>
    <p:spTree>
      <p:nvGrpSpPr>
        <p:cNvPr id="1" name=""/>
        <p:cNvGrpSpPr/>
        <p:nvPr/>
      </p:nvGrpSpPr>
      <p:grpSpPr>
        <a:xfrm>
          <a:off x="0" y="0"/>
          <a:ext cx="0" cy="0"/>
          <a:chOff x="0" y="0"/>
          <a:chExt cx="0" cy="0"/>
        </a:xfrm>
      </p:grpSpPr>
      <p:pic>
        <p:nvPicPr>
          <p:cNvPr id="2" name="Image 0" descr="/Users/chaipinzheng/Dev/agents-everywhere-2026/.claude/worktrees/agent-integration-slides-f8af74/assets/devpost/afterclass-icon.png">    </p:cNvPr>
          <p:cNvPicPr>
            <a:picLocks noChangeAspect="1"/>
          </p:cNvPicPr>
          <p:nvPr/>
        </p:nvPicPr>
        <p:blipFill>
          <a:blip r:embed="rId1"/>
          <a:stretch>
            <a:fillRect/>
          </a:stretch>
        </p:blipFill>
        <p:spPr>
          <a:xfrm>
            <a:off x="457200" y="4690872"/>
            <a:ext cx="256032" cy="256032"/>
          </a:xfrm>
          <a:prstGeom prst="rect">
            <a:avLst/>
          </a:prstGeom>
        </p:spPr>
      </p:pic>
      <p:sp>
        <p:nvSpPr>
          <p:cNvPr id="3" name="Text 0"/>
          <p:cNvSpPr txBox="1"/>
          <p:nvPr/>
        </p:nvSpPr>
        <p:spPr>
          <a:xfrm>
            <a:off x="777240" y="4690872"/>
            <a:ext cx="1828800" cy="256032"/>
          </a:xfrm>
          <a:prstGeom prst="rect">
            <a:avLst/>
          </a:prstGeom>
          <a:noFill/>
          <a:ln/>
        </p:spPr>
        <p:txBody>
          <a:bodyPr wrap="square" lIns="0" tIns="0" rIns="0" bIns="0" rtlCol="0" anchor="ctr"/>
          <a:lstStyle/>
          <a:p>
            <a:pPr indent="0" marL="0">
              <a:buNone/>
            </a:pPr>
            <a:r>
              <a:rPr lang="en-US" sz="900" dirty="0">
                <a:solidFill>
                  <a:srgbClr val="5F6F76"/>
                </a:solidFill>
                <a:latin typeface="Calibri" pitchFamily="34" charset="0"/>
                <a:ea typeface="Calibri" pitchFamily="34" charset="-122"/>
                <a:cs typeface="Calibri" pitchFamily="34" charset="-120"/>
              </a:rPr>
              <a:t>Afterclass</a:t>
            </a:r>
            <a:endParaRPr lang="en-US" sz="900" dirty="0"/>
          </a:p>
        </p:txBody>
      </p:sp>
      <p:sp>
        <p:nvSpPr>
          <p:cNvPr id="4" name="Text 1"/>
          <p:cNvSpPr txBox="1"/>
          <p:nvPr/>
        </p:nvSpPr>
        <p:spPr>
          <a:xfrm>
            <a:off x="7955280" y="4690872"/>
            <a:ext cx="731520" cy="256032"/>
          </a:xfrm>
          <a:prstGeom prst="rect">
            <a:avLst/>
          </a:prstGeom>
          <a:noFill/>
          <a:ln/>
        </p:spPr>
        <p:txBody>
          <a:bodyPr wrap="square" lIns="0" tIns="0" rIns="0" bIns="0" rtlCol="0" anchor="ctr"/>
          <a:lstStyle/>
          <a:p>
            <a:pPr algn="r" indent="0" marL="0">
              <a:buNone/>
            </a:pPr>
            <a:r>
              <a:rPr lang="en-US" sz="900" dirty="0">
                <a:solidFill>
                  <a:srgbClr val="5F6F76"/>
                </a:solidFill>
                <a:latin typeface="Calibri" pitchFamily="34" charset="0"/>
                <a:ea typeface="Calibri" pitchFamily="34" charset="-122"/>
                <a:cs typeface="Calibri" pitchFamily="34" charset="-120"/>
              </a:rPr>
              <a:t>06</a:t>
            </a:r>
            <a:endParaRPr lang="en-US" sz="900" dirty="0"/>
          </a:p>
        </p:txBody>
      </p:sp>
      <p:sp>
        <p:nvSpPr>
          <p:cNvPr id="5" name="Text 2"/>
          <p:cNvSpPr txBox="1"/>
          <p:nvPr/>
        </p:nvSpPr>
        <p:spPr>
          <a:xfrm>
            <a:off x="457200" y="384048"/>
            <a:ext cx="8229600" cy="685800"/>
          </a:xfrm>
          <a:prstGeom prst="rect">
            <a:avLst/>
          </a:prstGeom>
          <a:noFill/>
          <a:ln/>
        </p:spPr>
        <p:txBody>
          <a:bodyPr wrap="square" lIns="0" tIns="0" rIns="0" bIns="0" rtlCol="0" anchor="ctr"/>
          <a:lstStyle/>
          <a:p>
            <a:pPr indent="0" marL="0">
              <a:buNone/>
            </a:pPr>
            <a:r>
              <a:rPr lang="en-US" sz="2800" dirty="0">
                <a:solidFill>
                  <a:srgbClr val="203A44"/>
                </a:solidFill>
                <a:latin typeface="Georgia" pitchFamily="34" charset="0"/>
                <a:ea typeface="Georgia" pitchFamily="34" charset="-122"/>
                <a:cs typeface="Georgia" pitchFamily="34" charset="-120"/>
              </a:rPr>
              <a:t>Same question. Two answers. Two enforced paths.</a:t>
            </a:r>
            <a:endParaRPr lang="en-US" sz="2800" dirty="0"/>
          </a:p>
        </p:txBody>
      </p:sp>
      <p:sp>
        <p:nvSpPr>
          <p:cNvPr id="6" name="Text 3"/>
          <p:cNvSpPr txBox="1"/>
          <p:nvPr/>
        </p:nvSpPr>
        <p:spPr>
          <a:xfrm>
            <a:off x="1600200" y="1143000"/>
            <a:ext cx="5943600" cy="566928"/>
          </a:xfrm>
          <a:prstGeom prst="roundRect">
            <a:avLst>
              <a:gd name="adj" fmla="val 19355"/>
            </a:avLst>
          </a:prstGeom>
          <a:solidFill>
            <a:srgbClr val="E9EDDF"/>
          </a:solidFill>
          <a:ln>
            <a:solidFill>
              <a:srgbClr val="E9EDDF"/>
            </a:solidFill>
          </a:ln>
        </p:spPr>
        <p:txBody>
          <a:bodyPr wrap="square" lIns="76200" tIns="76200" rIns="76200" bIns="76200" rtlCol="0" anchor="ctr"/>
          <a:lstStyle/>
          <a:p>
            <a:pPr algn="ctr" indent="0" marL="0">
              <a:buNone/>
            </a:pPr>
            <a:r>
              <a:rPr lang="en-US" sz="1200" i="1" dirty="0">
                <a:solidFill>
                  <a:srgbClr val="203A44"/>
                </a:solidFill>
                <a:latin typeface="Calibri" pitchFamily="34" charset="0"/>
                <a:ea typeface="Calibri" pitchFamily="34" charset="-122"/>
                <a:cs typeface="Calibri" pitchFamily="34" charset="-120"/>
              </a:rPr>
              <a:t>“In a series circuit with two lamps, is the current after the second lamp smaller than before the first?”</a:t>
            </a:r>
            <a:endParaRPr lang="en-US" sz="1200" dirty="0"/>
          </a:p>
        </p:txBody>
      </p:sp>
      <p:sp>
        <p:nvSpPr>
          <p:cNvPr id="7" name="Shape 4"/>
          <p:cNvSpPr/>
          <p:nvPr/>
        </p:nvSpPr>
        <p:spPr>
          <a:xfrm>
            <a:off x="2468880" y="1737360"/>
            <a:ext cx="914" cy="292608"/>
          </a:xfrm>
          <a:prstGeom prst="line">
            <a:avLst/>
          </a:prstGeom>
          <a:noFill/>
          <a:ln w="19050">
            <a:solidFill>
              <a:srgbClr val="426951"/>
            </a:solidFill>
            <a:prstDash val="solid"/>
            <a:tailEnd type="triangle"/>
          </a:ln>
        </p:spPr>
      </p:sp>
      <p:sp>
        <p:nvSpPr>
          <p:cNvPr id="8" name="Shape 5"/>
          <p:cNvSpPr/>
          <p:nvPr/>
        </p:nvSpPr>
        <p:spPr>
          <a:xfrm>
            <a:off x="6675120" y="1737360"/>
            <a:ext cx="914" cy="292608"/>
          </a:xfrm>
          <a:prstGeom prst="line">
            <a:avLst/>
          </a:prstGeom>
          <a:noFill/>
          <a:ln w="19050">
            <a:solidFill>
              <a:srgbClr val="426951"/>
            </a:solidFill>
            <a:prstDash val="solid"/>
            <a:tailEnd type="triangle"/>
          </a:ln>
        </p:spPr>
      </p:sp>
      <p:sp>
        <p:nvSpPr>
          <p:cNvPr id="9" name="Shape 6"/>
          <p:cNvSpPr/>
          <p:nvPr/>
        </p:nvSpPr>
        <p:spPr>
          <a:xfrm>
            <a:off x="457200" y="2103120"/>
            <a:ext cx="3977640" cy="2103120"/>
          </a:xfrm>
          <a:prstGeom prst="roundRect">
            <a:avLst>
              <a:gd name="adj" fmla="val 5217"/>
            </a:avLst>
          </a:prstGeom>
          <a:solidFill>
            <a:srgbClr val="FFFFFF"/>
          </a:solidFill>
          <a:ln w="9525">
            <a:solidFill>
              <a:srgbClr val="DEDFD4"/>
            </a:solidFill>
            <a:prstDash val="solid"/>
          </a:ln>
        </p:spPr>
      </p:sp>
      <p:sp>
        <p:nvSpPr>
          <p:cNvPr id="10" name="Text 7"/>
          <p:cNvSpPr txBox="1"/>
          <p:nvPr/>
        </p:nvSpPr>
        <p:spPr>
          <a:xfrm>
            <a:off x="731520" y="2240280"/>
            <a:ext cx="3474720" cy="228600"/>
          </a:xfrm>
          <a:prstGeom prst="rect">
            <a:avLst/>
          </a:prstGeom>
          <a:noFill/>
          <a:ln/>
        </p:spPr>
        <p:txBody>
          <a:bodyPr wrap="square" lIns="0" tIns="0" rIns="0" bIns="0" rtlCol="0" anchor="t"/>
          <a:lstStyle/>
          <a:p>
            <a:pPr indent="0" marL="0">
              <a:buNone/>
            </a:pPr>
            <a:r>
              <a:rPr lang="en-US" sz="950" b="1" spc="100" kern="0" dirty="0">
                <a:solidFill>
                  <a:srgbClr val="AD762E"/>
                </a:solidFill>
                <a:latin typeface="Calibri" pitchFamily="34" charset="0"/>
                <a:ea typeface="Calibri" pitchFamily="34" charset="-122"/>
                <a:cs typeface="Calibri" pitchFamily="34" charset="-120"/>
              </a:rPr>
              <a:t>STUDENT ANSWERS WRONG</a:t>
            </a:r>
            <a:endParaRPr lang="en-US" sz="950" dirty="0"/>
          </a:p>
        </p:txBody>
      </p:sp>
      <p:sp>
        <p:nvSpPr>
          <p:cNvPr id="11" name="Text 8"/>
          <p:cNvSpPr txBox="1"/>
          <p:nvPr/>
        </p:nvSpPr>
        <p:spPr>
          <a:xfrm>
            <a:off x="731520" y="2487168"/>
            <a:ext cx="3474720" cy="365760"/>
          </a:xfrm>
          <a:prstGeom prst="rect">
            <a:avLst/>
          </a:prstGeom>
          <a:noFill/>
          <a:ln/>
        </p:spPr>
        <p:txBody>
          <a:bodyPr wrap="square" lIns="0" tIns="0" rIns="0" bIns="0" rtlCol="0" anchor="t"/>
          <a:lstStyle/>
          <a:p>
            <a:pPr indent="0" marL="0">
              <a:buNone/>
            </a:pPr>
            <a:r>
              <a:rPr lang="en-US" sz="1300" i="1" dirty="0">
                <a:solidFill>
                  <a:srgbClr val="203A44"/>
                </a:solidFill>
                <a:latin typeface="Calibri" pitchFamily="34" charset="0"/>
                <a:ea typeface="Calibri" pitchFamily="34" charset="-122"/>
                <a:cs typeface="Calibri" pitchFamily="34" charset="-120"/>
              </a:rPr>
              <a:t>“Yes. The lamps use up the current.”</a:t>
            </a:r>
            <a:endParaRPr lang="en-US" sz="1300" dirty="0"/>
          </a:p>
        </p:txBody>
      </p:sp>
      <p:sp>
        <p:nvSpPr>
          <p:cNvPr id="12" name="Text 9"/>
          <p:cNvSpPr txBox="1"/>
          <p:nvPr/>
        </p:nvSpPr>
        <p:spPr>
          <a:xfrm>
            <a:off x="731520" y="2926080"/>
            <a:ext cx="1234440" cy="274320"/>
          </a:xfrm>
          <a:prstGeom prst="rect">
            <a:avLst/>
          </a:prstGeom>
          <a:noFill/>
          <a:ln/>
        </p:spPr>
        <p:txBody>
          <a:bodyPr wrap="square" lIns="0" tIns="0" rIns="0" bIns="0" rtlCol="0" anchor="ctr"/>
          <a:lstStyle/>
          <a:p>
            <a:pPr indent="0" marL="0">
              <a:buNone/>
            </a:pPr>
            <a:r>
              <a:rPr lang="en-US" sz="1000" b="1" dirty="0">
                <a:solidFill>
                  <a:srgbClr val="5F6F76"/>
                </a:solidFill>
                <a:latin typeface="Calibri" pitchFamily="34" charset="0"/>
                <a:ea typeface="Calibri" pitchFamily="34" charset="-122"/>
                <a:cs typeface="Calibri" pitchFamily="34" charset="-120"/>
              </a:rPr>
              <a:t>Assessment</a:t>
            </a:r>
            <a:endParaRPr lang="en-US" sz="1000" dirty="0"/>
          </a:p>
        </p:txBody>
      </p:sp>
      <p:sp>
        <p:nvSpPr>
          <p:cNvPr id="13" name="Text 10"/>
          <p:cNvSpPr txBox="1"/>
          <p:nvPr/>
        </p:nvSpPr>
        <p:spPr>
          <a:xfrm>
            <a:off x="1965960" y="2926080"/>
            <a:ext cx="2286000" cy="274320"/>
          </a:xfrm>
          <a:prstGeom prst="rect">
            <a:avLst/>
          </a:prstGeom>
          <a:noFill/>
          <a:ln/>
        </p:spPr>
        <p:txBody>
          <a:bodyPr wrap="square" lIns="0" tIns="0" rIns="0" bIns="0" rtlCol="0" anchor="ctr"/>
          <a:lstStyle/>
          <a:p>
            <a:pPr indent="0" marL="0">
              <a:buNone/>
            </a:pPr>
            <a:r>
              <a:rPr lang="en-US" sz="1150" dirty="0">
                <a:solidFill>
                  <a:srgbClr val="203A44"/>
                </a:solidFill>
                <a:latin typeface="Calibri" pitchFamily="34" charset="0"/>
                <a:ea typeface="Calibri" pitchFamily="34" charset="-122"/>
                <a:cs typeface="Calibri" pitchFamily="34" charset="-120"/>
              </a:rPr>
              <a:t>incorrect</a:t>
            </a:r>
            <a:endParaRPr lang="en-US" sz="1150" dirty="0"/>
          </a:p>
        </p:txBody>
      </p:sp>
      <p:sp>
        <p:nvSpPr>
          <p:cNvPr id="14" name="Text 11"/>
          <p:cNvSpPr txBox="1"/>
          <p:nvPr/>
        </p:nvSpPr>
        <p:spPr>
          <a:xfrm>
            <a:off x="731520" y="3236976"/>
            <a:ext cx="1234440" cy="274320"/>
          </a:xfrm>
          <a:prstGeom prst="rect">
            <a:avLst/>
          </a:prstGeom>
          <a:noFill/>
          <a:ln/>
        </p:spPr>
        <p:txBody>
          <a:bodyPr wrap="square" lIns="0" tIns="0" rIns="0" bIns="0" rtlCol="0" anchor="ctr"/>
          <a:lstStyle/>
          <a:p>
            <a:pPr indent="0" marL="0">
              <a:buNone/>
            </a:pPr>
            <a:r>
              <a:rPr lang="en-US" sz="1000" b="1" dirty="0">
                <a:solidFill>
                  <a:srgbClr val="5F6F76"/>
                </a:solidFill>
                <a:latin typeface="Calibri" pitchFamily="34" charset="0"/>
                <a:ea typeface="Calibri" pitchFamily="34" charset="-122"/>
                <a:cs typeface="Calibri" pitchFamily="34" charset="-120"/>
              </a:rPr>
              <a:t>Misconception</a:t>
            </a:r>
            <a:endParaRPr lang="en-US" sz="1000" dirty="0"/>
          </a:p>
        </p:txBody>
      </p:sp>
      <p:sp>
        <p:nvSpPr>
          <p:cNvPr id="15" name="Text 12"/>
          <p:cNvSpPr txBox="1"/>
          <p:nvPr/>
        </p:nvSpPr>
        <p:spPr>
          <a:xfrm>
            <a:off x="1965960" y="3236976"/>
            <a:ext cx="2286000" cy="274320"/>
          </a:xfrm>
          <a:prstGeom prst="rect">
            <a:avLst/>
          </a:prstGeom>
          <a:noFill/>
          <a:ln/>
        </p:spPr>
        <p:txBody>
          <a:bodyPr wrap="square" lIns="0" tIns="0" rIns="0" bIns="0" rtlCol="0" anchor="ctr"/>
          <a:lstStyle/>
          <a:p>
            <a:pPr indent="0" marL="0">
              <a:buNone/>
            </a:pPr>
            <a:r>
              <a:rPr lang="en-US" sz="1150" dirty="0">
                <a:solidFill>
                  <a:srgbClr val="203A44"/>
                </a:solidFill>
                <a:latin typeface="Calibri" pitchFamily="34" charset="0"/>
                <a:ea typeface="Calibri" pitchFamily="34" charset="-122"/>
                <a:cs typeface="Calibri" pitchFamily="34" charset="-120"/>
              </a:rPr>
              <a:t>current is consumed</a:t>
            </a:r>
            <a:endParaRPr lang="en-US" sz="1150" dirty="0"/>
          </a:p>
        </p:txBody>
      </p:sp>
      <p:sp>
        <p:nvSpPr>
          <p:cNvPr id="16" name="Text 13"/>
          <p:cNvSpPr txBox="1"/>
          <p:nvPr/>
        </p:nvSpPr>
        <p:spPr>
          <a:xfrm>
            <a:off x="731520" y="3547872"/>
            <a:ext cx="1234440" cy="274320"/>
          </a:xfrm>
          <a:prstGeom prst="rect">
            <a:avLst/>
          </a:prstGeom>
          <a:noFill/>
          <a:ln/>
        </p:spPr>
        <p:txBody>
          <a:bodyPr wrap="square" lIns="0" tIns="0" rIns="0" bIns="0" rtlCol="0" anchor="ctr"/>
          <a:lstStyle/>
          <a:p>
            <a:pPr indent="0" marL="0">
              <a:buNone/>
            </a:pPr>
            <a:r>
              <a:rPr lang="en-US" sz="1000" b="1" dirty="0">
                <a:solidFill>
                  <a:srgbClr val="5F6F76"/>
                </a:solidFill>
                <a:latin typeface="Calibri" pitchFamily="34" charset="0"/>
                <a:ea typeface="Calibri" pitchFamily="34" charset="-122"/>
                <a:cs typeface="Calibri" pitchFamily="34" charset="-120"/>
              </a:rPr>
              <a:t>Required action</a:t>
            </a:r>
            <a:endParaRPr lang="en-US" sz="1000" dirty="0"/>
          </a:p>
        </p:txBody>
      </p:sp>
      <p:sp>
        <p:nvSpPr>
          <p:cNvPr id="17" name="Text 14"/>
          <p:cNvSpPr txBox="1"/>
          <p:nvPr/>
        </p:nvSpPr>
        <p:spPr>
          <a:xfrm>
            <a:off x="1965960" y="3547872"/>
            <a:ext cx="2286000" cy="274320"/>
          </a:xfrm>
          <a:prstGeom prst="rect">
            <a:avLst/>
          </a:prstGeom>
          <a:noFill/>
          <a:ln/>
        </p:spPr>
        <p:txBody>
          <a:bodyPr wrap="square" lIns="0" tIns="0" rIns="0" bIns="0" rtlCol="0" anchor="ctr"/>
          <a:lstStyle/>
          <a:p>
            <a:pPr indent="0" marL="0">
              <a:buNone/>
            </a:pPr>
            <a:r>
              <a:rPr lang="en-US" sz="1150" dirty="0">
                <a:solidFill>
                  <a:srgbClr val="203A44"/>
                </a:solidFill>
                <a:latin typeface="Calibri" pitchFamily="34" charset="0"/>
                <a:ea typeface="Calibri" pitchFamily="34" charset="-122"/>
                <a:cs typeface="Calibri" pitchFamily="34" charset="-120"/>
              </a:rPr>
              <a:t>reteach, with a cited passage</a:t>
            </a:r>
            <a:endParaRPr lang="en-US" sz="1150" dirty="0"/>
          </a:p>
        </p:txBody>
      </p:sp>
      <p:sp>
        <p:nvSpPr>
          <p:cNvPr id="18" name="Text 15"/>
          <p:cNvSpPr txBox="1"/>
          <p:nvPr/>
        </p:nvSpPr>
        <p:spPr>
          <a:xfrm>
            <a:off x="731520" y="3858768"/>
            <a:ext cx="1234440" cy="274320"/>
          </a:xfrm>
          <a:prstGeom prst="rect">
            <a:avLst/>
          </a:prstGeom>
          <a:noFill/>
          <a:ln/>
        </p:spPr>
        <p:txBody>
          <a:bodyPr wrap="square" lIns="0" tIns="0" rIns="0" bIns="0" rtlCol="0" anchor="ctr"/>
          <a:lstStyle/>
          <a:p>
            <a:pPr indent="0" marL="0">
              <a:buNone/>
            </a:pPr>
            <a:r>
              <a:rPr lang="en-US" sz="1000" b="1" dirty="0">
                <a:solidFill>
                  <a:srgbClr val="5F6F76"/>
                </a:solidFill>
                <a:latin typeface="Calibri" pitchFamily="34" charset="0"/>
                <a:ea typeface="Calibri" pitchFamily="34" charset="-122"/>
                <a:cs typeface="Calibri" pitchFamily="34" charset="-120"/>
              </a:rPr>
              <a:t>Plan</a:t>
            </a:r>
            <a:endParaRPr lang="en-US" sz="1000" dirty="0"/>
          </a:p>
        </p:txBody>
      </p:sp>
      <p:sp>
        <p:nvSpPr>
          <p:cNvPr id="19" name="Text 16"/>
          <p:cNvSpPr txBox="1"/>
          <p:nvPr/>
        </p:nvSpPr>
        <p:spPr>
          <a:xfrm>
            <a:off x="1965960" y="3858768"/>
            <a:ext cx="2286000" cy="274320"/>
          </a:xfrm>
          <a:prstGeom prst="rect">
            <a:avLst/>
          </a:prstGeom>
          <a:noFill/>
          <a:ln/>
        </p:spPr>
        <p:txBody>
          <a:bodyPr wrap="square" lIns="0" tIns="0" rIns="0" bIns="0" rtlCol="0" anchor="ctr"/>
          <a:lstStyle/>
          <a:p>
            <a:pPr indent="0" marL="0">
              <a:buNone/>
            </a:pPr>
            <a:r>
              <a:rPr lang="en-US" sz="1150" dirty="0">
                <a:solidFill>
                  <a:srgbClr val="203A44"/>
                </a:solidFill>
                <a:latin typeface="Calibri" pitchFamily="34" charset="0"/>
                <a:ea typeface="Calibri" pitchFamily="34" charset="-122"/>
                <a:cs typeface="Calibri" pitchFamily="34" charset="-120"/>
              </a:rPr>
              <a:t>this gap becomes step one</a:t>
            </a:r>
            <a:endParaRPr lang="en-US" sz="1150" dirty="0"/>
          </a:p>
        </p:txBody>
      </p:sp>
      <p:sp>
        <p:nvSpPr>
          <p:cNvPr id="20" name="Shape 17"/>
          <p:cNvSpPr/>
          <p:nvPr/>
        </p:nvSpPr>
        <p:spPr>
          <a:xfrm>
            <a:off x="4709160" y="2103120"/>
            <a:ext cx="3977640" cy="2103120"/>
          </a:xfrm>
          <a:prstGeom prst="roundRect">
            <a:avLst>
              <a:gd name="adj" fmla="val 5217"/>
            </a:avLst>
          </a:prstGeom>
          <a:solidFill>
            <a:srgbClr val="FFFFFF"/>
          </a:solidFill>
          <a:ln w="9525">
            <a:solidFill>
              <a:srgbClr val="DEDFD4"/>
            </a:solidFill>
            <a:prstDash val="solid"/>
          </a:ln>
        </p:spPr>
      </p:sp>
      <p:sp>
        <p:nvSpPr>
          <p:cNvPr id="21" name="Text 18"/>
          <p:cNvSpPr txBox="1"/>
          <p:nvPr/>
        </p:nvSpPr>
        <p:spPr>
          <a:xfrm>
            <a:off x="4983480" y="2240280"/>
            <a:ext cx="3474720" cy="228600"/>
          </a:xfrm>
          <a:prstGeom prst="rect">
            <a:avLst/>
          </a:prstGeom>
          <a:noFill/>
          <a:ln/>
        </p:spPr>
        <p:txBody>
          <a:bodyPr wrap="square" lIns="0" tIns="0" rIns="0" bIns="0" rtlCol="0" anchor="t"/>
          <a:lstStyle/>
          <a:p>
            <a:pPr indent="0" marL="0">
              <a:buNone/>
            </a:pPr>
            <a:r>
              <a:rPr lang="en-US" sz="950" b="1" spc="100" kern="0" dirty="0">
                <a:solidFill>
                  <a:srgbClr val="426951"/>
                </a:solidFill>
                <a:latin typeface="Calibri" pitchFamily="34" charset="0"/>
                <a:ea typeface="Calibri" pitchFamily="34" charset="-122"/>
                <a:cs typeface="Calibri" pitchFamily="34" charset="-120"/>
              </a:rPr>
              <a:t>STUDENT ANSWERS RIGHT</a:t>
            </a:r>
            <a:endParaRPr lang="en-US" sz="950" dirty="0"/>
          </a:p>
        </p:txBody>
      </p:sp>
      <p:sp>
        <p:nvSpPr>
          <p:cNvPr id="22" name="Text 19"/>
          <p:cNvSpPr txBox="1"/>
          <p:nvPr/>
        </p:nvSpPr>
        <p:spPr>
          <a:xfrm>
            <a:off x="4983480" y="2487168"/>
            <a:ext cx="3474720" cy="365760"/>
          </a:xfrm>
          <a:prstGeom prst="rect">
            <a:avLst/>
          </a:prstGeom>
          <a:noFill/>
          <a:ln/>
        </p:spPr>
        <p:txBody>
          <a:bodyPr wrap="square" lIns="0" tIns="0" rIns="0" bIns="0" rtlCol="0" anchor="t"/>
          <a:lstStyle/>
          <a:p>
            <a:pPr indent="0" marL="0">
              <a:buNone/>
            </a:pPr>
            <a:r>
              <a:rPr lang="en-US" sz="1300" i="1" dirty="0">
                <a:solidFill>
                  <a:srgbClr val="203A44"/>
                </a:solidFill>
                <a:latin typeface="Calibri" pitchFamily="34" charset="0"/>
                <a:ea typeface="Calibri" pitchFamily="34" charset="-122"/>
                <a:cs typeface="Calibri" pitchFamily="34" charset="-120"/>
              </a:rPr>
              <a:t>“No. Current is the same at every point.”</a:t>
            </a:r>
            <a:endParaRPr lang="en-US" sz="1300" dirty="0"/>
          </a:p>
        </p:txBody>
      </p:sp>
      <p:sp>
        <p:nvSpPr>
          <p:cNvPr id="23" name="Text 20"/>
          <p:cNvSpPr txBox="1"/>
          <p:nvPr/>
        </p:nvSpPr>
        <p:spPr>
          <a:xfrm>
            <a:off x="4983480" y="2926080"/>
            <a:ext cx="1234440" cy="274320"/>
          </a:xfrm>
          <a:prstGeom prst="rect">
            <a:avLst/>
          </a:prstGeom>
          <a:noFill/>
          <a:ln/>
        </p:spPr>
        <p:txBody>
          <a:bodyPr wrap="square" lIns="0" tIns="0" rIns="0" bIns="0" rtlCol="0" anchor="ctr"/>
          <a:lstStyle/>
          <a:p>
            <a:pPr indent="0" marL="0">
              <a:buNone/>
            </a:pPr>
            <a:r>
              <a:rPr lang="en-US" sz="1000" b="1" dirty="0">
                <a:solidFill>
                  <a:srgbClr val="5F6F76"/>
                </a:solidFill>
                <a:latin typeface="Calibri" pitchFamily="34" charset="0"/>
                <a:ea typeface="Calibri" pitchFamily="34" charset="-122"/>
                <a:cs typeface="Calibri" pitchFamily="34" charset="-120"/>
              </a:rPr>
              <a:t>Assessment</a:t>
            </a:r>
            <a:endParaRPr lang="en-US" sz="1000" dirty="0"/>
          </a:p>
        </p:txBody>
      </p:sp>
      <p:sp>
        <p:nvSpPr>
          <p:cNvPr id="24" name="Text 21"/>
          <p:cNvSpPr txBox="1"/>
          <p:nvPr/>
        </p:nvSpPr>
        <p:spPr>
          <a:xfrm>
            <a:off x="6217920" y="2926080"/>
            <a:ext cx="2286000" cy="274320"/>
          </a:xfrm>
          <a:prstGeom prst="rect">
            <a:avLst/>
          </a:prstGeom>
          <a:noFill/>
          <a:ln/>
        </p:spPr>
        <p:txBody>
          <a:bodyPr wrap="square" lIns="0" tIns="0" rIns="0" bIns="0" rtlCol="0" anchor="ctr"/>
          <a:lstStyle/>
          <a:p>
            <a:pPr indent="0" marL="0">
              <a:buNone/>
            </a:pPr>
            <a:r>
              <a:rPr lang="en-US" sz="1150" dirty="0">
                <a:solidFill>
                  <a:srgbClr val="203A44"/>
                </a:solidFill>
                <a:latin typeface="Calibri" pitchFamily="34" charset="0"/>
                <a:ea typeface="Calibri" pitchFamily="34" charset="-122"/>
                <a:cs typeface="Calibri" pitchFamily="34" charset="-120"/>
              </a:rPr>
              <a:t>correct</a:t>
            </a:r>
            <a:endParaRPr lang="en-US" sz="1150" dirty="0"/>
          </a:p>
        </p:txBody>
      </p:sp>
      <p:sp>
        <p:nvSpPr>
          <p:cNvPr id="25" name="Text 22"/>
          <p:cNvSpPr txBox="1"/>
          <p:nvPr/>
        </p:nvSpPr>
        <p:spPr>
          <a:xfrm>
            <a:off x="4983480" y="3236976"/>
            <a:ext cx="1234440" cy="274320"/>
          </a:xfrm>
          <a:prstGeom prst="rect">
            <a:avLst/>
          </a:prstGeom>
          <a:noFill/>
          <a:ln/>
        </p:spPr>
        <p:txBody>
          <a:bodyPr wrap="square" lIns="0" tIns="0" rIns="0" bIns="0" rtlCol="0" anchor="ctr"/>
          <a:lstStyle/>
          <a:p>
            <a:pPr indent="0" marL="0">
              <a:buNone/>
            </a:pPr>
            <a:r>
              <a:rPr lang="en-US" sz="1000" b="1" dirty="0">
                <a:solidFill>
                  <a:srgbClr val="5F6F76"/>
                </a:solidFill>
                <a:latin typeface="Calibri" pitchFamily="34" charset="0"/>
                <a:ea typeface="Calibri" pitchFamily="34" charset="-122"/>
                <a:cs typeface="Calibri" pitchFamily="34" charset="-120"/>
              </a:rPr>
              <a:t>Misconception</a:t>
            </a:r>
            <a:endParaRPr lang="en-US" sz="1000" dirty="0"/>
          </a:p>
        </p:txBody>
      </p:sp>
      <p:sp>
        <p:nvSpPr>
          <p:cNvPr id="26" name="Text 23"/>
          <p:cNvSpPr txBox="1"/>
          <p:nvPr/>
        </p:nvSpPr>
        <p:spPr>
          <a:xfrm>
            <a:off x="6217920" y="3236976"/>
            <a:ext cx="2286000" cy="274320"/>
          </a:xfrm>
          <a:prstGeom prst="rect">
            <a:avLst/>
          </a:prstGeom>
          <a:noFill/>
          <a:ln/>
        </p:spPr>
        <p:txBody>
          <a:bodyPr wrap="square" lIns="0" tIns="0" rIns="0" bIns="0" rtlCol="0" anchor="ctr"/>
          <a:lstStyle/>
          <a:p>
            <a:pPr indent="0" marL="0">
              <a:buNone/>
            </a:pPr>
            <a:r>
              <a:rPr lang="en-US" sz="1150" dirty="0">
                <a:solidFill>
                  <a:srgbClr val="203A44"/>
                </a:solidFill>
                <a:latin typeface="Calibri" pitchFamily="34" charset="0"/>
                <a:ea typeface="Calibri" pitchFamily="34" charset="-122"/>
                <a:cs typeface="Calibri" pitchFamily="34" charset="-120"/>
              </a:rPr>
              <a:t>none</a:t>
            </a:r>
            <a:endParaRPr lang="en-US" sz="1150" dirty="0"/>
          </a:p>
        </p:txBody>
      </p:sp>
      <p:sp>
        <p:nvSpPr>
          <p:cNvPr id="27" name="Text 24"/>
          <p:cNvSpPr txBox="1"/>
          <p:nvPr/>
        </p:nvSpPr>
        <p:spPr>
          <a:xfrm>
            <a:off x="4983480" y="3547872"/>
            <a:ext cx="1234440" cy="274320"/>
          </a:xfrm>
          <a:prstGeom prst="rect">
            <a:avLst/>
          </a:prstGeom>
          <a:noFill/>
          <a:ln/>
        </p:spPr>
        <p:txBody>
          <a:bodyPr wrap="square" lIns="0" tIns="0" rIns="0" bIns="0" rtlCol="0" anchor="ctr"/>
          <a:lstStyle/>
          <a:p>
            <a:pPr indent="0" marL="0">
              <a:buNone/>
            </a:pPr>
            <a:r>
              <a:rPr lang="en-US" sz="1000" b="1" dirty="0">
                <a:solidFill>
                  <a:srgbClr val="5F6F76"/>
                </a:solidFill>
                <a:latin typeface="Calibri" pitchFamily="34" charset="0"/>
                <a:ea typeface="Calibri" pitchFamily="34" charset="-122"/>
                <a:cs typeface="Calibri" pitchFamily="34" charset="-120"/>
              </a:rPr>
              <a:t>Required action</a:t>
            </a:r>
            <a:endParaRPr lang="en-US" sz="1000" dirty="0"/>
          </a:p>
        </p:txBody>
      </p:sp>
      <p:sp>
        <p:nvSpPr>
          <p:cNvPr id="28" name="Text 25"/>
          <p:cNvSpPr txBox="1"/>
          <p:nvPr/>
        </p:nvSpPr>
        <p:spPr>
          <a:xfrm>
            <a:off x="6217920" y="3547872"/>
            <a:ext cx="2286000" cy="274320"/>
          </a:xfrm>
          <a:prstGeom prst="rect">
            <a:avLst/>
          </a:prstGeom>
          <a:noFill/>
          <a:ln/>
        </p:spPr>
        <p:txBody>
          <a:bodyPr wrap="square" lIns="0" tIns="0" rIns="0" bIns="0" rtlCol="0" anchor="ctr"/>
          <a:lstStyle/>
          <a:p>
            <a:pPr indent="0" marL="0">
              <a:buNone/>
            </a:pPr>
            <a:r>
              <a:rPr lang="en-US" sz="1150" dirty="0">
                <a:solidFill>
                  <a:srgbClr val="203A44"/>
                </a:solidFill>
                <a:latin typeface="Calibri" pitchFamily="34" charset="0"/>
                <a:ea typeface="Calibri" pitchFamily="34" charset="-122"/>
                <a:cs typeface="Calibri" pitchFamily="34" charset="-120"/>
              </a:rPr>
              <a:t>practice</a:t>
            </a:r>
            <a:endParaRPr lang="en-US" sz="1150" dirty="0"/>
          </a:p>
        </p:txBody>
      </p:sp>
      <p:sp>
        <p:nvSpPr>
          <p:cNvPr id="29" name="Text 26"/>
          <p:cNvSpPr txBox="1"/>
          <p:nvPr/>
        </p:nvSpPr>
        <p:spPr>
          <a:xfrm>
            <a:off x="4983480" y="3858768"/>
            <a:ext cx="1234440" cy="274320"/>
          </a:xfrm>
          <a:prstGeom prst="rect">
            <a:avLst/>
          </a:prstGeom>
          <a:noFill/>
          <a:ln/>
        </p:spPr>
        <p:txBody>
          <a:bodyPr wrap="square" lIns="0" tIns="0" rIns="0" bIns="0" rtlCol="0" anchor="ctr"/>
          <a:lstStyle/>
          <a:p>
            <a:pPr indent="0" marL="0">
              <a:buNone/>
            </a:pPr>
            <a:r>
              <a:rPr lang="en-US" sz="1000" b="1" dirty="0">
                <a:solidFill>
                  <a:srgbClr val="5F6F76"/>
                </a:solidFill>
                <a:latin typeface="Calibri" pitchFamily="34" charset="0"/>
                <a:ea typeface="Calibri" pitchFamily="34" charset="-122"/>
                <a:cs typeface="Calibri" pitchFamily="34" charset="-120"/>
              </a:rPr>
              <a:t>Next</a:t>
            </a:r>
            <a:endParaRPr lang="en-US" sz="1000" dirty="0"/>
          </a:p>
        </p:txBody>
      </p:sp>
      <p:sp>
        <p:nvSpPr>
          <p:cNvPr id="30" name="Text 27"/>
          <p:cNvSpPr txBox="1"/>
          <p:nvPr/>
        </p:nvSpPr>
        <p:spPr>
          <a:xfrm>
            <a:off x="6217920" y="3858768"/>
            <a:ext cx="2286000" cy="274320"/>
          </a:xfrm>
          <a:prstGeom prst="rect">
            <a:avLst/>
          </a:prstGeom>
          <a:noFill/>
          <a:ln/>
        </p:spPr>
        <p:txBody>
          <a:bodyPr wrap="square" lIns="0" tIns="0" rIns="0" bIns="0" rtlCol="0" anchor="ctr"/>
          <a:lstStyle/>
          <a:p>
            <a:pPr indent="0" marL="0">
              <a:buNone/>
            </a:pPr>
            <a:r>
              <a:rPr lang="en-US" sz="1150" dirty="0">
                <a:solidFill>
                  <a:srgbClr val="203A44"/>
                </a:solidFill>
                <a:latin typeface="Calibri" pitchFamily="34" charset="0"/>
                <a:ea typeface="Calibri" pitchFamily="34" charset="-122"/>
                <a:cs typeface="Calibri" pitchFamily="34" charset="-120"/>
              </a:rPr>
              <a:t>predict two ammeter readings</a:t>
            </a:r>
            <a:endParaRPr lang="en-US" sz="1150" dirty="0"/>
          </a:p>
        </p:txBody>
      </p:sp>
      <p:sp>
        <p:nvSpPr>
          <p:cNvPr id="31" name="Text 28"/>
          <p:cNvSpPr txBox="1"/>
          <p:nvPr/>
        </p:nvSpPr>
        <p:spPr>
          <a:xfrm>
            <a:off x="457200" y="4279392"/>
            <a:ext cx="8229600" cy="320040"/>
          </a:xfrm>
          <a:prstGeom prst="rect">
            <a:avLst/>
          </a:prstGeom>
          <a:noFill/>
          <a:ln/>
        </p:spPr>
        <p:txBody>
          <a:bodyPr wrap="square" lIns="0" tIns="0" rIns="0" bIns="0" rtlCol="0" anchor="t"/>
          <a:lstStyle/>
          <a:p>
            <a:pPr algn="ctr" indent="0" marL="0">
              <a:buNone/>
            </a:pPr>
            <a:r>
              <a:rPr lang="en-US" sz="1200" dirty="0">
                <a:solidFill>
                  <a:srgbClr val="5F6F76"/>
                </a:solidFill>
                <a:latin typeface="Calibri" pitchFamily="34" charset="0"/>
                <a:ea typeface="Calibri" pitchFamily="34" charset="-122"/>
                <a:cs typeface="Calibri" pitchFamily="34" charset="-120"/>
              </a:rPr>
              <a:t>Enforced on the server. Rewording the script does not pass.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AF4"/>
        </a:solidFill>
      </p:bgPr>
    </p:bg>
    <p:spTree>
      <p:nvGrpSpPr>
        <p:cNvPr id="1" name=""/>
        <p:cNvGrpSpPr/>
        <p:nvPr/>
      </p:nvGrpSpPr>
      <p:grpSpPr>
        <a:xfrm>
          <a:off x="0" y="0"/>
          <a:ext cx="0" cy="0"/>
          <a:chOff x="0" y="0"/>
          <a:chExt cx="0" cy="0"/>
        </a:xfrm>
      </p:grpSpPr>
      <p:pic>
        <p:nvPicPr>
          <p:cNvPr id="2" name="Image 0" descr="/Users/chaipinzheng/Dev/agents-everywhere-2026/.claude/worktrees/agent-integration-slides-f8af74/assets/devpost/afterclass-icon.png">    </p:cNvPr>
          <p:cNvPicPr>
            <a:picLocks noChangeAspect="1"/>
          </p:cNvPicPr>
          <p:nvPr/>
        </p:nvPicPr>
        <p:blipFill>
          <a:blip r:embed="rId1"/>
          <a:stretch>
            <a:fillRect/>
          </a:stretch>
        </p:blipFill>
        <p:spPr>
          <a:xfrm>
            <a:off x="457200" y="4690872"/>
            <a:ext cx="256032" cy="256032"/>
          </a:xfrm>
          <a:prstGeom prst="rect">
            <a:avLst/>
          </a:prstGeom>
        </p:spPr>
      </p:pic>
      <p:sp>
        <p:nvSpPr>
          <p:cNvPr id="3" name="Text 0"/>
          <p:cNvSpPr txBox="1"/>
          <p:nvPr/>
        </p:nvSpPr>
        <p:spPr>
          <a:xfrm>
            <a:off x="777240" y="4690872"/>
            <a:ext cx="1828800" cy="256032"/>
          </a:xfrm>
          <a:prstGeom prst="rect">
            <a:avLst/>
          </a:prstGeom>
          <a:noFill/>
          <a:ln/>
        </p:spPr>
        <p:txBody>
          <a:bodyPr wrap="square" lIns="0" tIns="0" rIns="0" bIns="0" rtlCol="0" anchor="ctr"/>
          <a:lstStyle/>
          <a:p>
            <a:pPr indent="0" marL="0">
              <a:buNone/>
            </a:pPr>
            <a:r>
              <a:rPr lang="en-US" sz="900" dirty="0">
                <a:solidFill>
                  <a:srgbClr val="5F6F76"/>
                </a:solidFill>
                <a:latin typeface="Calibri" pitchFamily="34" charset="0"/>
                <a:ea typeface="Calibri" pitchFamily="34" charset="-122"/>
                <a:cs typeface="Calibri" pitchFamily="34" charset="-120"/>
              </a:rPr>
              <a:t>Afterclass</a:t>
            </a:r>
            <a:endParaRPr lang="en-US" sz="900" dirty="0"/>
          </a:p>
        </p:txBody>
      </p:sp>
      <p:sp>
        <p:nvSpPr>
          <p:cNvPr id="4" name="Text 1"/>
          <p:cNvSpPr txBox="1"/>
          <p:nvPr/>
        </p:nvSpPr>
        <p:spPr>
          <a:xfrm>
            <a:off x="7955280" y="4690872"/>
            <a:ext cx="731520" cy="256032"/>
          </a:xfrm>
          <a:prstGeom prst="rect">
            <a:avLst/>
          </a:prstGeom>
          <a:noFill/>
          <a:ln/>
        </p:spPr>
        <p:txBody>
          <a:bodyPr wrap="square" lIns="0" tIns="0" rIns="0" bIns="0" rtlCol="0" anchor="ctr"/>
          <a:lstStyle/>
          <a:p>
            <a:pPr algn="r" indent="0" marL="0">
              <a:buNone/>
            </a:pPr>
            <a:r>
              <a:rPr lang="en-US" sz="900" dirty="0">
                <a:solidFill>
                  <a:srgbClr val="5F6F76"/>
                </a:solidFill>
                <a:latin typeface="Calibri" pitchFamily="34" charset="0"/>
                <a:ea typeface="Calibri" pitchFamily="34" charset="-122"/>
                <a:cs typeface="Calibri" pitchFamily="34" charset="-120"/>
              </a:rPr>
              <a:t>07</a:t>
            </a:r>
            <a:endParaRPr lang="en-US" sz="900" dirty="0"/>
          </a:p>
        </p:txBody>
      </p:sp>
      <p:sp>
        <p:nvSpPr>
          <p:cNvPr id="5" name="Text 2"/>
          <p:cNvSpPr txBox="1"/>
          <p:nvPr/>
        </p:nvSpPr>
        <p:spPr>
          <a:xfrm>
            <a:off x="457200" y="384048"/>
            <a:ext cx="8229600" cy="685800"/>
          </a:xfrm>
          <a:prstGeom prst="rect">
            <a:avLst/>
          </a:prstGeom>
          <a:noFill/>
          <a:ln/>
        </p:spPr>
        <p:txBody>
          <a:bodyPr wrap="square" lIns="0" tIns="0" rIns="0" bIns="0" rtlCol="0" anchor="ctr"/>
          <a:lstStyle/>
          <a:p>
            <a:pPr indent="0" marL="0">
              <a:buNone/>
            </a:pPr>
            <a:r>
              <a:rPr lang="en-US" sz="2800" dirty="0">
                <a:solidFill>
                  <a:srgbClr val="203A44"/>
                </a:solidFill>
                <a:latin typeface="Georgia" pitchFamily="34" charset="0"/>
                <a:ea typeface="Georgia" pitchFamily="34" charset="-122"/>
                <a:cs typeface="Georgia" pitchFamily="34" charset="-120"/>
              </a:rPr>
              <a:t>How it works</a:t>
            </a:r>
            <a:endParaRPr lang="en-US" sz="2800" dirty="0"/>
          </a:p>
        </p:txBody>
      </p:sp>
      <p:sp>
        <p:nvSpPr>
          <p:cNvPr id="6" name="Shape 3"/>
          <p:cNvSpPr/>
          <p:nvPr/>
        </p:nvSpPr>
        <p:spPr>
          <a:xfrm>
            <a:off x="457200" y="1188720"/>
            <a:ext cx="1874520" cy="1325880"/>
          </a:xfrm>
          <a:prstGeom prst="roundRect">
            <a:avLst>
              <a:gd name="adj" fmla="val 8276"/>
            </a:avLst>
          </a:prstGeom>
          <a:solidFill>
            <a:srgbClr val="FFFFFF"/>
          </a:solidFill>
          <a:ln w="9525">
            <a:solidFill>
              <a:srgbClr val="DEDFD4"/>
            </a:solidFill>
            <a:prstDash val="solid"/>
          </a:ln>
        </p:spPr>
      </p:sp>
      <p:sp>
        <p:nvSpPr>
          <p:cNvPr id="7" name="Text 4"/>
          <p:cNvSpPr txBox="1"/>
          <p:nvPr/>
        </p:nvSpPr>
        <p:spPr>
          <a:xfrm>
            <a:off x="621792" y="1325880"/>
            <a:ext cx="1545336" cy="201168"/>
          </a:xfrm>
          <a:prstGeom prst="rect">
            <a:avLst/>
          </a:prstGeom>
          <a:noFill/>
          <a:ln/>
        </p:spPr>
        <p:txBody>
          <a:bodyPr wrap="square" lIns="0" tIns="0" rIns="0" bIns="0" rtlCol="0" anchor="t"/>
          <a:lstStyle/>
          <a:p>
            <a:pPr indent="0" marL="0">
              <a:buNone/>
            </a:pPr>
            <a:r>
              <a:rPr lang="en-US" sz="800" b="1" spc="100" kern="0" dirty="0">
                <a:solidFill>
                  <a:srgbClr val="5F6F76"/>
                </a:solidFill>
                <a:latin typeface="Calibri" pitchFamily="34" charset="0"/>
                <a:ea typeface="Calibri" pitchFamily="34" charset="-122"/>
                <a:cs typeface="Calibri" pitchFamily="34" charset="-120"/>
              </a:rPr>
              <a:t>ON THE PAGE</a:t>
            </a:r>
            <a:endParaRPr lang="en-US" sz="800" dirty="0"/>
          </a:p>
        </p:txBody>
      </p:sp>
      <p:sp>
        <p:nvSpPr>
          <p:cNvPr id="8" name="Text 5"/>
          <p:cNvSpPr txBox="1"/>
          <p:nvPr/>
        </p:nvSpPr>
        <p:spPr>
          <a:xfrm>
            <a:off x="621792" y="1536192"/>
            <a:ext cx="1545336" cy="274320"/>
          </a:xfrm>
          <a:prstGeom prst="rect">
            <a:avLst/>
          </a:prstGeom>
          <a:noFill/>
          <a:ln/>
        </p:spPr>
        <p:txBody>
          <a:bodyPr wrap="square" lIns="0" tIns="0" rIns="0" bIns="0" rtlCol="0" anchor="t"/>
          <a:lstStyle/>
          <a:p>
            <a:pPr indent="0" marL="0">
              <a:buNone/>
            </a:pPr>
            <a:r>
              <a:rPr lang="en-US" sz="1200" b="1" dirty="0">
                <a:solidFill>
                  <a:srgbClr val="203A44"/>
                </a:solidFill>
                <a:latin typeface="Calibri" pitchFamily="34" charset="0"/>
                <a:ea typeface="Calibri" pitchFamily="34" charset="-122"/>
                <a:cs typeface="Calibri" pitchFamily="34" charset="-120"/>
              </a:rPr>
              <a:t>Content script</a:t>
            </a:r>
            <a:endParaRPr lang="en-US" sz="1200" dirty="0"/>
          </a:p>
        </p:txBody>
      </p:sp>
      <p:sp>
        <p:nvSpPr>
          <p:cNvPr id="9" name="Text 6"/>
          <p:cNvSpPr txBox="1"/>
          <p:nvPr/>
        </p:nvSpPr>
        <p:spPr>
          <a:xfrm>
            <a:off x="621792" y="1847088"/>
            <a:ext cx="1545336" cy="548640"/>
          </a:xfrm>
          <a:prstGeom prst="rect">
            <a:avLst/>
          </a:prstGeom>
          <a:noFill/>
          <a:ln/>
        </p:spPr>
        <p:txBody>
          <a:bodyPr wrap="square" lIns="0" tIns="0" rIns="0" bIns="0" rtlCol="0" anchor="t"/>
          <a:lstStyle/>
          <a:p>
            <a:pPr indent="0" marL="0">
              <a:buNone/>
            </a:pPr>
            <a:r>
              <a:rPr lang="en-US" sz="1050" dirty="0">
                <a:solidFill>
                  <a:srgbClr val="5F6F76"/>
                </a:solidFill>
                <a:latin typeface="Calibri" pitchFamily="34" charset="0"/>
                <a:ea typeface="Calibri" pitchFamily="34" charset="-122"/>
                <a:cs typeface="Calibri" pitchFamily="34" charset="-120"/>
              </a:rPr>
              <a:t>Controls beside real posts. Same-tab overlay.</a:t>
            </a:r>
            <a:endParaRPr lang="en-US" sz="1050" dirty="0"/>
          </a:p>
        </p:txBody>
      </p:sp>
      <p:sp>
        <p:nvSpPr>
          <p:cNvPr id="10" name="Shape 7"/>
          <p:cNvSpPr/>
          <p:nvPr/>
        </p:nvSpPr>
        <p:spPr>
          <a:xfrm>
            <a:off x="2359152" y="1851660"/>
            <a:ext cx="192024" cy="914"/>
          </a:xfrm>
          <a:prstGeom prst="line">
            <a:avLst/>
          </a:prstGeom>
          <a:noFill/>
          <a:ln w="19050">
            <a:solidFill>
              <a:srgbClr val="426951"/>
            </a:solidFill>
            <a:prstDash val="solid"/>
            <a:tailEnd type="triangle"/>
          </a:ln>
        </p:spPr>
      </p:sp>
      <p:sp>
        <p:nvSpPr>
          <p:cNvPr id="11" name="Shape 8"/>
          <p:cNvSpPr/>
          <p:nvPr/>
        </p:nvSpPr>
        <p:spPr>
          <a:xfrm>
            <a:off x="2578608" y="1188720"/>
            <a:ext cx="1874520" cy="1325880"/>
          </a:xfrm>
          <a:prstGeom prst="roundRect">
            <a:avLst>
              <a:gd name="adj" fmla="val 8276"/>
            </a:avLst>
          </a:prstGeom>
          <a:solidFill>
            <a:srgbClr val="FFFFFF"/>
          </a:solidFill>
          <a:ln w="9525">
            <a:solidFill>
              <a:srgbClr val="DEDFD4"/>
            </a:solidFill>
            <a:prstDash val="solid"/>
          </a:ln>
        </p:spPr>
      </p:sp>
      <p:sp>
        <p:nvSpPr>
          <p:cNvPr id="12" name="Text 9"/>
          <p:cNvSpPr txBox="1"/>
          <p:nvPr/>
        </p:nvSpPr>
        <p:spPr>
          <a:xfrm>
            <a:off x="2743200" y="1325880"/>
            <a:ext cx="1545336" cy="201168"/>
          </a:xfrm>
          <a:prstGeom prst="rect">
            <a:avLst/>
          </a:prstGeom>
          <a:noFill/>
          <a:ln/>
        </p:spPr>
        <p:txBody>
          <a:bodyPr wrap="square" lIns="0" tIns="0" rIns="0" bIns="0" rtlCol="0" anchor="t"/>
          <a:lstStyle/>
          <a:p>
            <a:pPr indent="0" marL="0">
              <a:buNone/>
            </a:pPr>
            <a:r>
              <a:rPr lang="en-US" sz="800" b="1" spc="100" kern="0" dirty="0">
                <a:solidFill>
                  <a:srgbClr val="5F6F76"/>
                </a:solidFill>
                <a:latin typeface="Calibri" pitchFamily="34" charset="0"/>
                <a:ea typeface="Calibri" pitchFamily="34" charset="-122"/>
                <a:cs typeface="Calibri" pitchFamily="34" charset="-120"/>
              </a:rPr>
              <a:t>IN THE EXTENSION</a:t>
            </a:r>
            <a:endParaRPr lang="en-US" sz="800" dirty="0"/>
          </a:p>
        </p:txBody>
      </p:sp>
      <p:sp>
        <p:nvSpPr>
          <p:cNvPr id="13" name="Text 10"/>
          <p:cNvSpPr txBox="1"/>
          <p:nvPr/>
        </p:nvSpPr>
        <p:spPr>
          <a:xfrm>
            <a:off x="2743200" y="1536192"/>
            <a:ext cx="1545336" cy="274320"/>
          </a:xfrm>
          <a:prstGeom prst="rect">
            <a:avLst/>
          </a:prstGeom>
          <a:noFill/>
          <a:ln/>
        </p:spPr>
        <p:txBody>
          <a:bodyPr wrap="square" lIns="0" tIns="0" rIns="0" bIns="0" rtlCol="0" anchor="t"/>
          <a:lstStyle/>
          <a:p>
            <a:pPr indent="0" marL="0">
              <a:buNone/>
            </a:pPr>
            <a:r>
              <a:rPr lang="en-US" sz="1200" b="1" dirty="0">
                <a:solidFill>
                  <a:srgbClr val="203A44"/>
                </a:solidFill>
                <a:latin typeface="Calibri" pitchFamily="34" charset="0"/>
                <a:ea typeface="Calibri" pitchFamily="34" charset="-122"/>
                <a:cs typeface="Calibri" pitchFamily="34" charset="-120"/>
              </a:rPr>
              <a:t>Service worker</a:t>
            </a:r>
            <a:endParaRPr lang="en-US" sz="1200" dirty="0"/>
          </a:p>
        </p:txBody>
      </p:sp>
      <p:sp>
        <p:nvSpPr>
          <p:cNvPr id="14" name="Text 11"/>
          <p:cNvSpPr txBox="1"/>
          <p:nvPr/>
        </p:nvSpPr>
        <p:spPr>
          <a:xfrm>
            <a:off x="2743200" y="1847088"/>
            <a:ext cx="1545336" cy="548640"/>
          </a:xfrm>
          <a:prstGeom prst="rect">
            <a:avLst/>
          </a:prstGeom>
          <a:noFill/>
          <a:ln/>
        </p:spPr>
        <p:txBody>
          <a:bodyPr wrap="square" lIns="0" tIns="0" rIns="0" bIns="0" rtlCol="0" anchor="t"/>
          <a:lstStyle/>
          <a:p>
            <a:pPr indent="0" marL="0">
              <a:buNone/>
            </a:pPr>
            <a:r>
              <a:rPr lang="en-US" sz="1050" dirty="0">
                <a:solidFill>
                  <a:srgbClr val="5F6F76"/>
                </a:solidFill>
                <a:latin typeface="Calibri" pitchFamily="34" charset="0"/>
                <a:ea typeface="Calibri" pitchFamily="34" charset="-122"/>
                <a:cs typeface="Calibri" pitchFamily="34" charset="-120"/>
              </a:rPr>
              <a:t>Google sign-in. Holds the token.</a:t>
            </a:r>
            <a:endParaRPr lang="en-US" sz="1050" dirty="0"/>
          </a:p>
        </p:txBody>
      </p:sp>
      <p:sp>
        <p:nvSpPr>
          <p:cNvPr id="15" name="Shape 12"/>
          <p:cNvSpPr/>
          <p:nvPr/>
        </p:nvSpPr>
        <p:spPr>
          <a:xfrm>
            <a:off x="4480560" y="1851660"/>
            <a:ext cx="192024" cy="914"/>
          </a:xfrm>
          <a:prstGeom prst="line">
            <a:avLst/>
          </a:prstGeom>
          <a:noFill/>
          <a:ln w="19050">
            <a:solidFill>
              <a:srgbClr val="426951"/>
            </a:solidFill>
            <a:prstDash val="solid"/>
            <a:tailEnd type="triangle"/>
          </a:ln>
        </p:spPr>
      </p:sp>
      <p:sp>
        <p:nvSpPr>
          <p:cNvPr id="16" name="Shape 13"/>
          <p:cNvSpPr/>
          <p:nvPr/>
        </p:nvSpPr>
        <p:spPr>
          <a:xfrm>
            <a:off x="4700016" y="1188720"/>
            <a:ext cx="1874520" cy="1325880"/>
          </a:xfrm>
          <a:prstGeom prst="roundRect">
            <a:avLst>
              <a:gd name="adj" fmla="val 8276"/>
            </a:avLst>
          </a:prstGeom>
          <a:solidFill>
            <a:srgbClr val="FFFFFF"/>
          </a:solidFill>
          <a:ln w="9525">
            <a:solidFill>
              <a:srgbClr val="DEDFD4"/>
            </a:solidFill>
            <a:prstDash val="solid"/>
          </a:ln>
        </p:spPr>
      </p:sp>
      <p:sp>
        <p:nvSpPr>
          <p:cNvPr id="17" name="Text 14"/>
          <p:cNvSpPr txBox="1"/>
          <p:nvPr/>
        </p:nvSpPr>
        <p:spPr>
          <a:xfrm>
            <a:off x="4864608" y="1325880"/>
            <a:ext cx="1545336" cy="201168"/>
          </a:xfrm>
          <a:prstGeom prst="rect">
            <a:avLst/>
          </a:prstGeom>
          <a:noFill/>
          <a:ln/>
        </p:spPr>
        <p:txBody>
          <a:bodyPr wrap="square" lIns="0" tIns="0" rIns="0" bIns="0" rtlCol="0" anchor="t"/>
          <a:lstStyle/>
          <a:p>
            <a:pPr indent="0" marL="0">
              <a:buNone/>
            </a:pPr>
            <a:r>
              <a:rPr lang="en-US" sz="800" b="1" spc="100" kern="0" dirty="0">
                <a:solidFill>
                  <a:srgbClr val="5F6F76"/>
                </a:solidFill>
                <a:latin typeface="Calibri" pitchFamily="34" charset="0"/>
                <a:ea typeface="Calibri" pitchFamily="34" charset="-122"/>
                <a:cs typeface="Calibri" pitchFamily="34" charset="-120"/>
              </a:rPr>
              <a:t>LOCAL SERVER</a:t>
            </a:r>
            <a:endParaRPr lang="en-US" sz="800" dirty="0"/>
          </a:p>
        </p:txBody>
      </p:sp>
      <p:sp>
        <p:nvSpPr>
          <p:cNvPr id="18" name="Text 15"/>
          <p:cNvSpPr txBox="1"/>
          <p:nvPr/>
        </p:nvSpPr>
        <p:spPr>
          <a:xfrm>
            <a:off x="4864608" y="1536192"/>
            <a:ext cx="1545336" cy="274320"/>
          </a:xfrm>
          <a:prstGeom prst="rect">
            <a:avLst/>
          </a:prstGeom>
          <a:noFill/>
          <a:ln/>
        </p:spPr>
        <p:txBody>
          <a:bodyPr wrap="square" lIns="0" tIns="0" rIns="0" bIns="0" rtlCol="0" anchor="t"/>
          <a:lstStyle/>
          <a:p>
            <a:pPr indent="0" marL="0">
              <a:buNone/>
            </a:pPr>
            <a:r>
              <a:rPr lang="en-US" sz="1200" b="1" dirty="0">
                <a:solidFill>
                  <a:srgbClr val="203A44"/>
                </a:solidFill>
                <a:latin typeface="Calibri" pitchFamily="34" charset="0"/>
                <a:ea typeface="Calibri" pitchFamily="34" charset="-122"/>
                <a:cs typeface="Calibri" pitchFamily="34" charset="-120"/>
              </a:rPr>
              <a:t>API · Bun + SQLite</a:t>
            </a:r>
            <a:endParaRPr lang="en-US" sz="1200" dirty="0"/>
          </a:p>
        </p:txBody>
      </p:sp>
      <p:sp>
        <p:nvSpPr>
          <p:cNvPr id="19" name="Text 16"/>
          <p:cNvSpPr txBox="1"/>
          <p:nvPr/>
        </p:nvSpPr>
        <p:spPr>
          <a:xfrm>
            <a:off x="4864608" y="1847088"/>
            <a:ext cx="1545336" cy="548640"/>
          </a:xfrm>
          <a:prstGeom prst="rect">
            <a:avLst/>
          </a:prstGeom>
          <a:noFill/>
          <a:ln/>
        </p:spPr>
        <p:txBody>
          <a:bodyPr wrap="square" lIns="0" tIns="0" rIns="0" bIns="0" rtlCol="0" anchor="t"/>
          <a:lstStyle/>
          <a:p>
            <a:pPr indent="0" marL="0">
              <a:buNone/>
            </a:pPr>
            <a:r>
              <a:rPr lang="en-US" sz="1050" dirty="0">
                <a:solidFill>
                  <a:srgbClr val="5F6F76"/>
                </a:solidFill>
                <a:latin typeface="Calibri" pitchFamily="34" charset="0"/>
                <a:ea typeface="Calibri" pitchFamily="34" charset="-122"/>
                <a:cs typeface="Calibri" pitchFamily="34" charset="-120"/>
              </a:rPr>
              <a:t>Checks access. Stores lessons and evidence.</a:t>
            </a:r>
            <a:endParaRPr lang="en-US" sz="1050" dirty="0"/>
          </a:p>
        </p:txBody>
      </p:sp>
      <p:sp>
        <p:nvSpPr>
          <p:cNvPr id="20" name="Shape 17"/>
          <p:cNvSpPr/>
          <p:nvPr/>
        </p:nvSpPr>
        <p:spPr>
          <a:xfrm>
            <a:off x="6601968" y="1851660"/>
            <a:ext cx="192024" cy="914"/>
          </a:xfrm>
          <a:prstGeom prst="line">
            <a:avLst/>
          </a:prstGeom>
          <a:noFill/>
          <a:ln w="19050">
            <a:solidFill>
              <a:srgbClr val="426951"/>
            </a:solidFill>
            <a:prstDash val="solid"/>
            <a:tailEnd type="triangle"/>
          </a:ln>
        </p:spPr>
      </p:sp>
      <p:sp>
        <p:nvSpPr>
          <p:cNvPr id="21" name="Shape 18"/>
          <p:cNvSpPr/>
          <p:nvPr/>
        </p:nvSpPr>
        <p:spPr>
          <a:xfrm>
            <a:off x="6821424" y="1188720"/>
            <a:ext cx="1874520" cy="1325880"/>
          </a:xfrm>
          <a:prstGeom prst="roundRect">
            <a:avLst>
              <a:gd name="adj" fmla="val 8276"/>
            </a:avLst>
          </a:prstGeom>
          <a:solidFill>
            <a:srgbClr val="FFFFFF"/>
          </a:solidFill>
          <a:ln w="9525">
            <a:solidFill>
              <a:srgbClr val="DEDFD4"/>
            </a:solidFill>
            <a:prstDash val="solid"/>
          </a:ln>
        </p:spPr>
      </p:sp>
      <p:sp>
        <p:nvSpPr>
          <p:cNvPr id="22" name="Text 19"/>
          <p:cNvSpPr txBox="1"/>
          <p:nvPr/>
        </p:nvSpPr>
        <p:spPr>
          <a:xfrm>
            <a:off x="6986016" y="1325880"/>
            <a:ext cx="1545336" cy="201168"/>
          </a:xfrm>
          <a:prstGeom prst="rect">
            <a:avLst/>
          </a:prstGeom>
          <a:noFill/>
          <a:ln/>
        </p:spPr>
        <p:txBody>
          <a:bodyPr wrap="square" lIns="0" tIns="0" rIns="0" bIns="0" rtlCol="0" anchor="t"/>
          <a:lstStyle/>
          <a:p>
            <a:pPr indent="0" marL="0">
              <a:buNone/>
            </a:pPr>
            <a:r>
              <a:rPr lang="en-US" sz="800" b="1" spc="100" kern="0" dirty="0">
                <a:solidFill>
                  <a:srgbClr val="5F6F76"/>
                </a:solidFill>
                <a:latin typeface="Calibri" pitchFamily="34" charset="0"/>
                <a:ea typeface="Calibri" pitchFamily="34" charset="-122"/>
                <a:cs typeface="Calibri" pitchFamily="34" charset="-120"/>
              </a:rPr>
              <a:t>GOOGLE</a:t>
            </a:r>
            <a:endParaRPr lang="en-US" sz="800" dirty="0"/>
          </a:p>
        </p:txBody>
      </p:sp>
      <p:sp>
        <p:nvSpPr>
          <p:cNvPr id="23" name="Text 20"/>
          <p:cNvSpPr txBox="1"/>
          <p:nvPr/>
        </p:nvSpPr>
        <p:spPr>
          <a:xfrm>
            <a:off x="6986016" y="1536192"/>
            <a:ext cx="1545336" cy="274320"/>
          </a:xfrm>
          <a:prstGeom prst="rect">
            <a:avLst/>
          </a:prstGeom>
          <a:noFill/>
          <a:ln/>
        </p:spPr>
        <p:txBody>
          <a:bodyPr wrap="square" lIns="0" tIns="0" rIns="0" bIns="0" rtlCol="0" anchor="t"/>
          <a:lstStyle/>
          <a:p>
            <a:pPr indent="0" marL="0">
              <a:buNone/>
            </a:pPr>
            <a:r>
              <a:rPr lang="en-US" sz="1200" b="1" dirty="0">
                <a:solidFill>
                  <a:srgbClr val="203A44"/>
                </a:solidFill>
                <a:latin typeface="Calibri" pitchFamily="34" charset="0"/>
                <a:ea typeface="Calibri" pitchFamily="34" charset="-122"/>
                <a:cs typeface="Calibri" pitchFamily="34" charset="-120"/>
              </a:rPr>
              <a:t>Classroom · Drive · Docs</a:t>
            </a:r>
            <a:endParaRPr lang="en-US" sz="1200" dirty="0"/>
          </a:p>
        </p:txBody>
      </p:sp>
      <p:sp>
        <p:nvSpPr>
          <p:cNvPr id="24" name="Text 21"/>
          <p:cNvSpPr txBox="1"/>
          <p:nvPr/>
        </p:nvSpPr>
        <p:spPr>
          <a:xfrm>
            <a:off x="6986016" y="1847088"/>
            <a:ext cx="1545336" cy="548640"/>
          </a:xfrm>
          <a:prstGeom prst="rect">
            <a:avLst/>
          </a:prstGeom>
          <a:noFill/>
          <a:ln/>
        </p:spPr>
        <p:txBody>
          <a:bodyPr wrap="square" lIns="0" tIns="0" rIns="0" bIns="0" rtlCol="0" anchor="t"/>
          <a:lstStyle/>
          <a:p>
            <a:pPr indent="0" marL="0">
              <a:buNone/>
            </a:pPr>
            <a:r>
              <a:rPr lang="en-US" sz="1050" dirty="0">
                <a:solidFill>
                  <a:srgbClr val="5F6F76"/>
                </a:solidFill>
                <a:latin typeface="Calibri" pitchFamily="34" charset="0"/>
                <a:ea typeface="Calibri" pitchFamily="34" charset="-122"/>
                <a:cs typeface="Calibri" pitchFamily="34" charset="-120"/>
              </a:rPr>
              <a:t>Posts, due dates, passages.</a:t>
            </a:r>
            <a:endParaRPr lang="en-US" sz="1050" dirty="0"/>
          </a:p>
        </p:txBody>
      </p:sp>
      <p:sp>
        <p:nvSpPr>
          <p:cNvPr id="25" name="Shape 22"/>
          <p:cNvSpPr/>
          <p:nvPr/>
        </p:nvSpPr>
        <p:spPr>
          <a:xfrm>
            <a:off x="5637276" y="2542032"/>
            <a:ext cx="914" cy="310896"/>
          </a:xfrm>
          <a:prstGeom prst="line">
            <a:avLst/>
          </a:prstGeom>
          <a:noFill/>
          <a:ln w="19050">
            <a:solidFill>
              <a:srgbClr val="426951"/>
            </a:solidFill>
            <a:prstDash val="solid"/>
            <a:tailEnd type="triangle"/>
          </a:ln>
        </p:spPr>
      </p:sp>
      <p:sp>
        <p:nvSpPr>
          <p:cNvPr id="26" name="Shape 23"/>
          <p:cNvSpPr/>
          <p:nvPr/>
        </p:nvSpPr>
        <p:spPr>
          <a:xfrm>
            <a:off x="457200" y="2880360"/>
            <a:ext cx="8229600" cy="1280160"/>
          </a:xfrm>
          <a:prstGeom prst="roundRect">
            <a:avLst>
              <a:gd name="adj" fmla="val 8571"/>
            </a:avLst>
          </a:prstGeom>
          <a:solidFill>
            <a:srgbClr val="FFFFFF"/>
          </a:solidFill>
          <a:ln w="9525">
            <a:solidFill>
              <a:srgbClr val="DEDFD4"/>
            </a:solidFill>
            <a:prstDash val="solid"/>
          </a:ln>
        </p:spPr>
      </p:sp>
      <p:sp>
        <p:nvSpPr>
          <p:cNvPr id="27" name="Text 24"/>
          <p:cNvSpPr txBox="1"/>
          <p:nvPr/>
        </p:nvSpPr>
        <p:spPr>
          <a:xfrm>
            <a:off x="621792" y="3017520"/>
            <a:ext cx="3291840" cy="201168"/>
          </a:xfrm>
          <a:prstGeom prst="rect">
            <a:avLst/>
          </a:prstGeom>
          <a:noFill/>
          <a:ln/>
        </p:spPr>
        <p:txBody>
          <a:bodyPr wrap="square" lIns="0" tIns="0" rIns="0" bIns="0" rtlCol="0" anchor="t"/>
          <a:lstStyle/>
          <a:p>
            <a:pPr indent="0" marL="0">
              <a:buNone/>
            </a:pPr>
            <a:r>
              <a:rPr lang="en-US" sz="800" b="1" spc="100" kern="0" dirty="0">
                <a:solidFill>
                  <a:srgbClr val="5F6F76"/>
                </a:solidFill>
                <a:latin typeface="Calibri" pitchFamily="34" charset="0"/>
                <a:ea typeface="Calibri" pitchFamily="34" charset="-122"/>
                <a:cs typeface="Calibri" pitchFamily="34" charset="-120"/>
              </a:rPr>
              <a:t>AGENT LAYER</a:t>
            </a:r>
            <a:endParaRPr lang="en-US" sz="800" dirty="0"/>
          </a:p>
        </p:txBody>
      </p:sp>
      <p:sp>
        <p:nvSpPr>
          <p:cNvPr id="28" name="Text 25"/>
          <p:cNvSpPr txBox="1"/>
          <p:nvPr/>
        </p:nvSpPr>
        <p:spPr>
          <a:xfrm>
            <a:off x="621792" y="3227832"/>
            <a:ext cx="3291840" cy="274320"/>
          </a:xfrm>
          <a:prstGeom prst="rect">
            <a:avLst/>
          </a:prstGeom>
          <a:noFill/>
          <a:ln/>
        </p:spPr>
        <p:txBody>
          <a:bodyPr wrap="square" lIns="0" tIns="0" rIns="0" bIns="0" rtlCol="0" anchor="t"/>
          <a:lstStyle/>
          <a:p>
            <a:pPr indent="0" marL="0">
              <a:buNone/>
            </a:pPr>
            <a:r>
              <a:rPr lang="en-US" sz="1250" b="1" dirty="0">
                <a:solidFill>
                  <a:srgbClr val="203A44"/>
                </a:solidFill>
                <a:latin typeface="Calibri" pitchFamily="34" charset="0"/>
                <a:ea typeface="Calibri" pitchFamily="34" charset="-122"/>
                <a:cs typeface="Calibri" pitchFamily="34" charset="-120"/>
              </a:rPr>
              <a:t>Tutor + Catch-up crew</a:t>
            </a:r>
            <a:endParaRPr lang="en-US" sz="1250" dirty="0"/>
          </a:p>
        </p:txBody>
      </p:sp>
      <p:sp>
        <p:nvSpPr>
          <p:cNvPr id="29" name="Text 26"/>
          <p:cNvSpPr txBox="1"/>
          <p:nvPr/>
        </p:nvSpPr>
        <p:spPr>
          <a:xfrm>
            <a:off x="621792" y="3538728"/>
            <a:ext cx="3291840" cy="457200"/>
          </a:xfrm>
          <a:prstGeom prst="rect">
            <a:avLst/>
          </a:prstGeom>
          <a:noFill/>
          <a:ln/>
        </p:spPr>
        <p:txBody>
          <a:bodyPr wrap="square" lIns="0" tIns="0" rIns="0" bIns="0" rtlCol="0" anchor="t"/>
          <a:lstStyle/>
          <a:p>
            <a:pPr indent="0" marL="0">
              <a:buNone/>
            </a:pPr>
            <a:r>
              <a:rPr lang="en-US" sz="1050" dirty="0">
                <a:solidFill>
                  <a:srgbClr val="5F6F76"/>
                </a:solidFill>
                <a:latin typeface="Calibri" pitchFamily="34" charset="0"/>
                <a:ea typeface="Calibri" pitchFamily="34" charset="-122"/>
                <a:cs typeface="Calibri" pitchFamily="34" charset="-120"/>
              </a:rPr>
              <a:t>Strict JSON. Exact-quote citations. Server-enforced phases.</a:t>
            </a:r>
            <a:endParaRPr lang="en-US" sz="1050" dirty="0"/>
          </a:p>
        </p:txBody>
      </p:sp>
      <p:sp>
        <p:nvSpPr>
          <p:cNvPr id="30" name="Text 27"/>
          <p:cNvSpPr txBox="1"/>
          <p:nvPr/>
        </p:nvSpPr>
        <p:spPr>
          <a:xfrm>
            <a:off x="4206240" y="3172968"/>
            <a:ext cx="960120" cy="365760"/>
          </a:xfrm>
          <a:prstGeom prst="roundRect">
            <a:avLst>
              <a:gd name="adj" fmla="val 20000"/>
            </a:avLst>
          </a:prstGeom>
          <a:solidFill>
            <a:srgbClr val="426951"/>
          </a:solidFill>
          <a:ln>
            <a:solidFill>
              <a:srgbClr val="426951"/>
            </a:solidFill>
          </a:ln>
        </p:spPr>
        <p:txBody>
          <a:bodyPr wrap="square" lIns="0" tIns="0" rIns="0" bIns="0" rtlCol="0" anchor="ctr"/>
          <a:lstStyle/>
          <a:p>
            <a:pPr algn="ctr" indent="0" marL="0">
              <a:buNone/>
            </a:pPr>
            <a:r>
              <a:rPr lang="en-US" sz="1000" b="1" dirty="0">
                <a:solidFill>
                  <a:srgbClr val="FCFAF4"/>
                </a:solidFill>
                <a:latin typeface="Calibri" pitchFamily="34" charset="0"/>
                <a:ea typeface="Calibri" pitchFamily="34" charset="-122"/>
                <a:cs typeface="Calibri" pitchFamily="34" charset="-120"/>
              </a:rPr>
              <a:t>Class Scout</a:t>
            </a:r>
            <a:endParaRPr lang="en-US" sz="1000" dirty="0"/>
          </a:p>
        </p:txBody>
      </p:sp>
      <p:sp>
        <p:nvSpPr>
          <p:cNvPr id="31" name="Text 28"/>
          <p:cNvSpPr txBox="1"/>
          <p:nvPr/>
        </p:nvSpPr>
        <p:spPr>
          <a:xfrm>
            <a:off x="4114800" y="3593592"/>
            <a:ext cx="1143000" cy="411480"/>
          </a:xfrm>
          <a:prstGeom prst="rect">
            <a:avLst/>
          </a:prstGeom>
          <a:noFill/>
          <a:ln/>
        </p:spPr>
        <p:txBody>
          <a:bodyPr wrap="square" lIns="0" tIns="0" rIns="0" bIns="0" rtlCol="0" anchor="t"/>
          <a:lstStyle/>
          <a:p>
            <a:pPr algn="ctr" indent="0" marL="0">
              <a:buNone/>
            </a:pPr>
            <a:r>
              <a:rPr lang="en-US" sz="850" dirty="0">
                <a:solidFill>
                  <a:srgbClr val="5F6F76"/>
                </a:solidFill>
                <a:latin typeface="Calibri" pitchFamily="34" charset="0"/>
                <a:ea typeface="Calibri" pitchFamily="34" charset="-122"/>
                <a:cs typeface="Calibri" pitchFamily="34" charset="-120"/>
              </a:rPr>
              <a:t>what the posts contain</a:t>
            </a:r>
            <a:endParaRPr lang="en-US" sz="850" dirty="0"/>
          </a:p>
        </p:txBody>
      </p:sp>
      <p:sp>
        <p:nvSpPr>
          <p:cNvPr id="32" name="Shape 29"/>
          <p:cNvSpPr/>
          <p:nvPr/>
        </p:nvSpPr>
        <p:spPr>
          <a:xfrm>
            <a:off x="5184648" y="3355848"/>
            <a:ext cx="118872" cy="914"/>
          </a:xfrm>
          <a:prstGeom prst="line">
            <a:avLst/>
          </a:prstGeom>
          <a:noFill/>
          <a:ln w="19050">
            <a:solidFill>
              <a:srgbClr val="426951"/>
            </a:solidFill>
            <a:prstDash val="solid"/>
            <a:tailEnd type="triangle"/>
          </a:ln>
        </p:spPr>
      </p:sp>
      <p:sp>
        <p:nvSpPr>
          <p:cNvPr id="33" name="Text 30"/>
          <p:cNvSpPr txBox="1"/>
          <p:nvPr/>
        </p:nvSpPr>
        <p:spPr>
          <a:xfrm>
            <a:off x="5321808" y="3172968"/>
            <a:ext cx="960120" cy="365760"/>
          </a:xfrm>
          <a:prstGeom prst="roundRect">
            <a:avLst>
              <a:gd name="adj" fmla="val 20000"/>
            </a:avLst>
          </a:prstGeom>
          <a:solidFill>
            <a:srgbClr val="426951"/>
          </a:solidFill>
          <a:ln>
            <a:solidFill>
              <a:srgbClr val="426951"/>
            </a:solidFill>
          </a:ln>
        </p:spPr>
        <p:txBody>
          <a:bodyPr wrap="square" lIns="0" tIns="0" rIns="0" bIns="0" rtlCol="0" anchor="ctr"/>
          <a:lstStyle/>
          <a:p>
            <a:pPr algn="ctr" indent="0" marL="0">
              <a:buNone/>
            </a:pPr>
            <a:r>
              <a:rPr lang="en-US" sz="1000" b="1" dirty="0">
                <a:solidFill>
                  <a:srgbClr val="FCFAF4"/>
                </a:solidFill>
                <a:latin typeface="Calibri" pitchFamily="34" charset="0"/>
                <a:ea typeface="Calibri" pitchFamily="34" charset="-122"/>
                <a:cs typeface="Calibri" pitchFamily="34" charset="-120"/>
              </a:rPr>
              <a:t>Reviewer</a:t>
            </a:r>
            <a:endParaRPr lang="en-US" sz="1000" dirty="0"/>
          </a:p>
        </p:txBody>
      </p:sp>
      <p:sp>
        <p:nvSpPr>
          <p:cNvPr id="34" name="Text 31"/>
          <p:cNvSpPr txBox="1"/>
          <p:nvPr/>
        </p:nvSpPr>
        <p:spPr>
          <a:xfrm>
            <a:off x="5230368" y="3593592"/>
            <a:ext cx="1143000" cy="411480"/>
          </a:xfrm>
          <a:prstGeom prst="rect">
            <a:avLst/>
          </a:prstGeom>
          <a:noFill/>
          <a:ln/>
        </p:spPr>
        <p:txBody>
          <a:bodyPr wrap="square" lIns="0" tIns="0" rIns="0" bIns="0" rtlCol="0" anchor="t"/>
          <a:lstStyle/>
          <a:p>
            <a:pPr algn="ctr" indent="0" marL="0">
              <a:buNone/>
            </a:pPr>
            <a:r>
              <a:rPr lang="en-US" sz="850" dirty="0">
                <a:solidFill>
                  <a:srgbClr val="5F6F76"/>
                </a:solidFill>
                <a:latin typeface="Calibri" pitchFamily="34" charset="0"/>
                <a:ea typeface="Calibri" pitchFamily="34" charset="-122"/>
                <a:cs typeface="Calibri" pitchFamily="34" charset="-120"/>
              </a:rPr>
              <a:t>grades the answer</a:t>
            </a:r>
            <a:endParaRPr lang="en-US" sz="850" dirty="0"/>
          </a:p>
        </p:txBody>
      </p:sp>
      <p:sp>
        <p:nvSpPr>
          <p:cNvPr id="35" name="Shape 32"/>
          <p:cNvSpPr/>
          <p:nvPr/>
        </p:nvSpPr>
        <p:spPr>
          <a:xfrm>
            <a:off x="6300216" y="3355848"/>
            <a:ext cx="118872" cy="914"/>
          </a:xfrm>
          <a:prstGeom prst="line">
            <a:avLst/>
          </a:prstGeom>
          <a:noFill/>
          <a:ln w="19050">
            <a:solidFill>
              <a:srgbClr val="426951"/>
            </a:solidFill>
            <a:prstDash val="solid"/>
            <a:tailEnd type="triangle"/>
          </a:ln>
        </p:spPr>
      </p:sp>
      <p:sp>
        <p:nvSpPr>
          <p:cNvPr id="36" name="Text 33"/>
          <p:cNvSpPr txBox="1"/>
          <p:nvPr/>
        </p:nvSpPr>
        <p:spPr>
          <a:xfrm>
            <a:off x="6437376" y="3172968"/>
            <a:ext cx="960120" cy="365760"/>
          </a:xfrm>
          <a:prstGeom prst="roundRect">
            <a:avLst>
              <a:gd name="adj" fmla="val 20000"/>
            </a:avLst>
          </a:prstGeom>
          <a:solidFill>
            <a:srgbClr val="426951"/>
          </a:solidFill>
          <a:ln>
            <a:solidFill>
              <a:srgbClr val="426951"/>
            </a:solidFill>
          </a:ln>
        </p:spPr>
        <p:txBody>
          <a:bodyPr wrap="square" lIns="0" tIns="0" rIns="0" bIns="0" rtlCol="0" anchor="ctr"/>
          <a:lstStyle/>
          <a:p>
            <a:pPr algn="ctr" indent="0" marL="0">
              <a:buNone/>
            </a:pPr>
            <a:r>
              <a:rPr lang="en-US" sz="1000" b="1" dirty="0">
                <a:solidFill>
                  <a:srgbClr val="FCFAF4"/>
                </a:solidFill>
                <a:latin typeface="Calibri" pitchFamily="34" charset="0"/>
                <a:ea typeface="Calibri" pitchFamily="34" charset="-122"/>
                <a:cs typeface="Calibri" pitchFamily="34" charset="-120"/>
              </a:rPr>
              <a:t>Planner</a:t>
            </a:r>
            <a:endParaRPr lang="en-US" sz="1000" dirty="0"/>
          </a:p>
        </p:txBody>
      </p:sp>
      <p:sp>
        <p:nvSpPr>
          <p:cNvPr id="37" name="Text 34"/>
          <p:cNvSpPr txBox="1"/>
          <p:nvPr/>
        </p:nvSpPr>
        <p:spPr>
          <a:xfrm>
            <a:off x="6345936" y="3593592"/>
            <a:ext cx="1143000" cy="411480"/>
          </a:xfrm>
          <a:prstGeom prst="rect">
            <a:avLst/>
          </a:prstGeom>
          <a:noFill/>
          <a:ln/>
        </p:spPr>
        <p:txBody>
          <a:bodyPr wrap="square" lIns="0" tIns="0" rIns="0" bIns="0" rtlCol="0" anchor="t"/>
          <a:lstStyle/>
          <a:p>
            <a:pPr algn="ctr" indent="0" marL="0">
              <a:buNone/>
            </a:pPr>
            <a:r>
              <a:rPr lang="en-US" sz="850" dirty="0">
                <a:solidFill>
                  <a:srgbClr val="5F6F76"/>
                </a:solidFill>
                <a:latin typeface="Calibri" pitchFamily="34" charset="0"/>
                <a:ea typeface="Calibri" pitchFamily="34" charset="-122"/>
                <a:cs typeface="Calibri" pitchFamily="34" charset="-120"/>
              </a:rPr>
              <a:t>steps that fit the time</a:t>
            </a:r>
            <a:endParaRPr lang="en-US" sz="850" dirty="0"/>
          </a:p>
        </p:txBody>
      </p:sp>
      <p:sp>
        <p:nvSpPr>
          <p:cNvPr id="38" name="Shape 35"/>
          <p:cNvSpPr/>
          <p:nvPr/>
        </p:nvSpPr>
        <p:spPr>
          <a:xfrm>
            <a:off x="7415784" y="3355848"/>
            <a:ext cx="118872" cy="914"/>
          </a:xfrm>
          <a:prstGeom prst="line">
            <a:avLst/>
          </a:prstGeom>
          <a:noFill/>
          <a:ln w="19050">
            <a:solidFill>
              <a:srgbClr val="426951"/>
            </a:solidFill>
            <a:prstDash val="solid"/>
            <a:tailEnd type="triangle"/>
          </a:ln>
        </p:spPr>
      </p:sp>
      <p:sp>
        <p:nvSpPr>
          <p:cNvPr id="39" name="Text 36"/>
          <p:cNvSpPr txBox="1"/>
          <p:nvPr/>
        </p:nvSpPr>
        <p:spPr>
          <a:xfrm>
            <a:off x="7552944" y="3172968"/>
            <a:ext cx="960120" cy="365760"/>
          </a:xfrm>
          <a:prstGeom prst="roundRect">
            <a:avLst>
              <a:gd name="adj" fmla="val 20000"/>
            </a:avLst>
          </a:prstGeom>
          <a:solidFill>
            <a:srgbClr val="426951"/>
          </a:solidFill>
          <a:ln>
            <a:solidFill>
              <a:srgbClr val="426951"/>
            </a:solidFill>
          </a:ln>
        </p:spPr>
        <p:txBody>
          <a:bodyPr wrap="square" lIns="0" tIns="0" rIns="0" bIns="0" rtlCol="0" anchor="ctr"/>
          <a:lstStyle/>
          <a:p>
            <a:pPr algn="ctr" indent="0" marL="0">
              <a:buNone/>
            </a:pPr>
            <a:r>
              <a:rPr lang="en-US" sz="1000" b="1" dirty="0">
                <a:solidFill>
                  <a:srgbClr val="FCFAF4"/>
                </a:solidFill>
                <a:latin typeface="Calibri" pitchFamily="34" charset="0"/>
                <a:ea typeface="Calibri" pitchFamily="34" charset="-122"/>
                <a:cs typeface="Calibri" pitchFamily="34" charset="-120"/>
              </a:rPr>
              <a:t>Tutor</a:t>
            </a:r>
            <a:endParaRPr lang="en-US" sz="1000" dirty="0"/>
          </a:p>
        </p:txBody>
      </p:sp>
      <p:sp>
        <p:nvSpPr>
          <p:cNvPr id="40" name="Text 37"/>
          <p:cNvSpPr txBox="1"/>
          <p:nvPr/>
        </p:nvSpPr>
        <p:spPr>
          <a:xfrm>
            <a:off x="7461504" y="3593592"/>
            <a:ext cx="1143000" cy="411480"/>
          </a:xfrm>
          <a:prstGeom prst="rect">
            <a:avLst/>
          </a:prstGeom>
          <a:noFill/>
          <a:ln/>
        </p:spPr>
        <p:txBody>
          <a:bodyPr wrap="square" lIns="0" tIns="0" rIns="0" bIns="0" rtlCol="0" anchor="t"/>
          <a:lstStyle/>
          <a:p>
            <a:pPr algn="ctr" indent="0" marL="0">
              <a:buNone/>
            </a:pPr>
            <a:r>
              <a:rPr lang="en-US" sz="850" dirty="0">
                <a:solidFill>
                  <a:srgbClr val="5F6F76"/>
                </a:solidFill>
                <a:latin typeface="Calibri" pitchFamily="34" charset="0"/>
                <a:ea typeface="Calibri" pitchFamily="34" charset="-122"/>
                <a:cs typeface="Calibri" pitchFamily="34" charset="-120"/>
              </a:rPr>
              <a:t>teaches the next idea</a:t>
            </a:r>
            <a:endParaRPr lang="en-US" sz="850" dirty="0"/>
          </a:p>
        </p:txBody>
      </p:sp>
      <p:sp>
        <p:nvSpPr>
          <p:cNvPr id="41" name="Text 38"/>
          <p:cNvSpPr txBox="1"/>
          <p:nvPr/>
        </p:nvSpPr>
        <p:spPr>
          <a:xfrm>
            <a:off x="457200" y="4297680"/>
            <a:ext cx="8229600" cy="274320"/>
          </a:xfrm>
          <a:prstGeom prst="rect">
            <a:avLst/>
          </a:prstGeom>
          <a:noFill/>
          <a:ln/>
        </p:spPr>
        <p:txBody>
          <a:bodyPr wrap="square" lIns="0" tIns="0" rIns="0" bIns="0" rtlCol="0" anchor="ctr"/>
          <a:lstStyle/>
          <a:p>
            <a:pPr algn="ctr" indent="0" marL="0">
              <a:buNone/>
            </a:pPr>
            <a:r>
              <a:rPr lang="en-US" sz="950" dirty="0">
                <a:solidFill>
                  <a:srgbClr val="5F6F76"/>
                </a:solidFill>
                <a:latin typeface="Calibri" pitchFamily="34" charset="0"/>
                <a:ea typeface="Calibri" pitchFamily="34" charset="-122"/>
                <a:cs typeface="Calibri" pitchFamily="34" charset="-120"/>
              </a:rPr>
              <a:t>OpenAI structured outputs  ·  Realtime voice  ·  read-only Google scopes  ·  82 service tests  ·  20 browser tests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AF4"/>
        </a:solidFill>
      </p:bgPr>
    </p:bg>
    <p:spTree>
      <p:nvGrpSpPr>
        <p:cNvPr id="1" name=""/>
        <p:cNvGrpSpPr/>
        <p:nvPr/>
      </p:nvGrpSpPr>
      <p:grpSpPr>
        <a:xfrm>
          <a:off x="0" y="0"/>
          <a:ext cx="0" cy="0"/>
          <a:chOff x="0" y="0"/>
          <a:chExt cx="0" cy="0"/>
        </a:xfrm>
      </p:grpSpPr>
      <p:pic>
        <p:nvPicPr>
          <p:cNvPr id="2" name="Image 0" descr="/Users/chaipinzheng/Dev/agents-everywhere-2026/.claude/worktrees/agent-integration-slides-f8af74/assets/devpost/afterclass-icon.png">    </p:cNvPr>
          <p:cNvPicPr>
            <a:picLocks noChangeAspect="1"/>
          </p:cNvPicPr>
          <p:nvPr/>
        </p:nvPicPr>
        <p:blipFill>
          <a:blip r:embed="rId1"/>
          <a:stretch>
            <a:fillRect/>
          </a:stretch>
        </p:blipFill>
        <p:spPr>
          <a:xfrm>
            <a:off x="457200" y="4690872"/>
            <a:ext cx="256032" cy="256032"/>
          </a:xfrm>
          <a:prstGeom prst="rect">
            <a:avLst/>
          </a:prstGeom>
        </p:spPr>
      </p:pic>
      <p:sp>
        <p:nvSpPr>
          <p:cNvPr id="3" name="Text 0"/>
          <p:cNvSpPr txBox="1"/>
          <p:nvPr/>
        </p:nvSpPr>
        <p:spPr>
          <a:xfrm>
            <a:off x="777240" y="4690872"/>
            <a:ext cx="1828800" cy="256032"/>
          </a:xfrm>
          <a:prstGeom prst="rect">
            <a:avLst/>
          </a:prstGeom>
          <a:noFill/>
          <a:ln/>
        </p:spPr>
        <p:txBody>
          <a:bodyPr wrap="square" lIns="0" tIns="0" rIns="0" bIns="0" rtlCol="0" anchor="ctr"/>
          <a:lstStyle/>
          <a:p>
            <a:pPr indent="0" marL="0">
              <a:buNone/>
            </a:pPr>
            <a:r>
              <a:rPr lang="en-US" sz="900" dirty="0">
                <a:solidFill>
                  <a:srgbClr val="5F6F76"/>
                </a:solidFill>
                <a:latin typeface="Calibri" pitchFamily="34" charset="0"/>
                <a:ea typeface="Calibri" pitchFamily="34" charset="-122"/>
                <a:cs typeface="Calibri" pitchFamily="34" charset="-120"/>
              </a:rPr>
              <a:t>Afterclass</a:t>
            </a:r>
            <a:endParaRPr lang="en-US" sz="900" dirty="0"/>
          </a:p>
        </p:txBody>
      </p:sp>
      <p:sp>
        <p:nvSpPr>
          <p:cNvPr id="4" name="Text 1"/>
          <p:cNvSpPr txBox="1"/>
          <p:nvPr/>
        </p:nvSpPr>
        <p:spPr>
          <a:xfrm>
            <a:off x="7955280" y="4690872"/>
            <a:ext cx="731520" cy="256032"/>
          </a:xfrm>
          <a:prstGeom prst="rect">
            <a:avLst/>
          </a:prstGeom>
          <a:noFill/>
          <a:ln/>
        </p:spPr>
        <p:txBody>
          <a:bodyPr wrap="square" lIns="0" tIns="0" rIns="0" bIns="0" rtlCol="0" anchor="ctr"/>
          <a:lstStyle/>
          <a:p>
            <a:pPr algn="r" indent="0" marL="0">
              <a:buNone/>
            </a:pPr>
            <a:r>
              <a:rPr lang="en-US" sz="900" dirty="0">
                <a:solidFill>
                  <a:srgbClr val="5F6F76"/>
                </a:solidFill>
                <a:latin typeface="Calibri" pitchFamily="34" charset="0"/>
                <a:ea typeface="Calibri" pitchFamily="34" charset="-122"/>
                <a:cs typeface="Calibri" pitchFamily="34" charset="-120"/>
              </a:rPr>
              <a:t>08</a:t>
            </a:r>
            <a:endParaRPr lang="en-US" sz="900" dirty="0"/>
          </a:p>
        </p:txBody>
      </p:sp>
      <p:sp>
        <p:nvSpPr>
          <p:cNvPr id="5" name="Text 2"/>
          <p:cNvSpPr txBox="1"/>
          <p:nvPr/>
        </p:nvSpPr>
        <p:spPr>
          <a:xfrm>
            <a:off x="457200" y="384048"/>
            <a:ext cx="8229600" cy="685800"/>
          </a:xfrm>
          <a:prstGeom prst="rect">
            <a:avLst/>
          </a:prstGeom>
          <a:noFill/>
          <a:ln/>
        </p:spPr>
        <p:txBody>
          <a:bodyPr wrap="square" lIns="0" tIns="0" rIns="0" bIns="0" rtlCol="0" anchor="ctr"/>
          <a:lstStyle/>
          <a:p>
            <a:pPr indent="0" marL="0">
              <a:buNone/>
            </a:pPr>
            <a:r>
              <a:rPr lang="en-US" sz="2800" dirty="0">
                <a:solidFill>
                  <a:srgbClr val="203A44"/>
                </a:solidFill>
                <a:latin typeface="Georgia" pitchFamily="34" charset="0"/>
                <a:ea typeface="Georgia" pitchFamily="34" charset="-122"/>
                <a:cs typeface="Georgia" pitchFamily="34" charset="-120"/>
              </a:rPr>
              <a:t>Built to be trusted, not just believed.</a:t>
            </a:r>
            <a:endParaRPr lang="en-US" sz="2800" dirty="0"/>
          </a:p>
        </p:txBody>
      </p:sp>
      <p:sp>
        <p:nvSpPr>
          <p:cNvPr id="6" name="Shape 3"/>
          <p:cNvSpPr/>
          <p:nvPr/>
        </p:nvSpPr>
        <p:spPr>
          <a:xfrm>
            <a:off x="457200" y="1280160"/>
            <a:ext cx="2560320" cy="1325880"/>
          </a:xfrm>
          <a:prstGeom prst="roundRect">
            <a:avLst>
              <a:gd name="adj" fmla="val 8276"/>
            </a:avLst>
          </a:prstGeom>
          <a:solidFill>
            <a:srgbClr val="FFFFFF"/>
          </a:solidFill>
          <a:ln w="9525">
            <a:solidFill>
              <a:srgbClr val="DEDFD4"/>
            </a:solidFill>
            <a:prstDash val="solid"/>
          </a:ln>
        </p:spPr>
      </p:sp>
      <p:sp>
        <p:nvSpPr>
          <p:cNvPr id="7" name="Shape 4"/>
          <p:cNvSpPr/>
          <p:nvPr/>
        </p:nvSpPr>
        <p:spPr>
          <a:xfrm>
            <a:off x="685800" y="1508760"/>
            <a:ext cx="457200" cy="457200"/>
          </a:xfrm>
          <a:prstGeom prst="ellipse">
            <a:avLst/>
          </a:prstGeom>
          <a:solidFill>
            <a:srgbClr val="426951"/>
          </a:solidFill>
          <a:ln w="12700">
            <a:solidFill>
              <a:srgbClr val="426951"/>
            </a:solidFill>
            <a:prstDash val="solid"/>
          </a:ln>
        </p:spPr>
      </p:sp>
      <p:pic>
        <p:nvPicPr>
          <p:cNvPr id="8" name="Image 1" descr="preencoded.png">    </p:cNvPr>
          <p:cNvPicPr>
            <a:picLocks noChangeAspect="1"/>
          </p:cNvPicPr>
          <p:nvPr/>
        </p:nvPicPr>
        <p:blipFill>
          <a:blip r:embed="rId2"/>
          <a:stretch>
            <a:fillRect/>
          </a:stretch>
        </p:blipFill>
        <p:spPr>
          <a:xfrm>
            <a:off x="804672" y="1627632"/>
            <a:ext cx="219456" cy="219456"/>
          </a:xfrm>
          <a:prstGeom prst="rect">
            <a:avLst/>
          </a:prstGeom>
        </p:spPr>
      </p:pic>
      <p:sp>
        <p:nvSpPr>
          <p:cNvPr id="9" name="Text 5"/>
          <p:cNvSpPr txBox="1"/>
          <p:nvPr/>
        </p:nvSpPr>
        <p:spPr>
          <a:xfrm>
            <a:off x="685800" y="2057400"/>
            <a:ext cx="2148840" cy="274320"/>
          </a:xfrm>
          <a:prstGeom prst="rect">
            <a:avLst/>
          </a:prstGeom>
          <a:noFill/>
          <a:ln/>
        </p:spPr>
        <p:txBody>
          <a:bodyPr wrap="square" lIns="0" tIns="0" rIns="0" bIns="0" rtlCol="0" anchor="t"/>
          <a:lstStyle/>
          <a:p>
            <a:pPr indent="0" marL="0">
              <a:buNone/>
            </a:pPr>
            <a:r>
              <a:rPr lang="en-US" sz="1300" b="1" dirty="0">
                <a:solidFill>
                  <a:srgbClr val="203A44"/>
                </a:solidFill>
                <a:latin typeface="Calibri" pitchFamily="34" charset="0"/>
                <a:ea typeface="Calibri" pitchFamily="34" charset="-122"/>
                <a:cs typeface="Calibri" pitchFamily="34" charset="-120"/>
              </a:rPr>
              <a:t>Citations are checked</a:t>
            </a:r>
            <a:endParaRPr lang="en-US" sz="1300" dirty="0"/>
          </a:p>
        </p:txBody>
      </p:sp>
      <p:sp>
        <p:nvSpPr>
          <p:cNvPr id="10" name="Text 6"/>
          <p:cNvSpPr txBox="1"/>
          <p:nvPr/>
        </p:nvSpPr>
        <p:spPr>
          <a:xfrm>
            <a:off x="685800" y="2313432"/>
            <a:ext cx="2148840" cy="274320"/>
          </a:xfrm>
          <a:prstGeom prst="rect">
            <a:avLst/>
          </a:prstGeom>
          <a:noFill/>
          <a:ln/>
        </p:spPr>
        <p:txBody>
          <a:bodyPr wrap="square" lIns="0" tIns="0" rIns="0" bIns="0" rtlCol="0" anchor="t"/>
          <a:lstStyle/>
          <a:p>
            <a:pPr indent="0" marL="0">
              <a:buNone/>
            </a:pPr>
            <a:r>
              <a:rPr lang="en-US" sz="1100" dirty="0">
                <a:solidFill>
                  <a:srgbClr val="5F6F76"/>
                </a:solidFill>
                <a:latin typeface="Calibri" pitchFamily="34" charset="0"/>
                <a:ea typeface="Calibri" pitchFamily="34" charset="-122"/>
                <a:cs typeface="Calibri" pitchFamily="34" charset="-120"/>
              </a:rPr>
              <a:t>Exact quote, or rejected.</a:t>
            </a:r>
            <a:endParaRPr lang="en-US" sz="1100" dirty="0"/>
          </a:p>
        </p:txBody>
      </p:sp>
      <p:sp>
        <p:nvSpPr>
          <p:cNvPr id="11" name="Shape 7"/>
          <p:cNvSpPr/>
          <p:nvPr/>
        </p:nvSpPr>
        <p:spPr>
          <a:xfrm>
            <a:off x="3291840" y="1280160"/>
            <a:ext cx="2560320" cy="1325880"/>
          </a:xfrm>
          <a:prstGeom prst="roundRect">
            <a:avLst>
              <a:gd name="adj" fmla="val 8276"/>
            </a:avLst>
          </a:prstGeom>
          <a:solidFill>
            <a:srgbClr val="FFFFFF"/>
          </a:solidFill>
          <a:ln w="9525">
            <a:solidFill>
              <a:srgbClr val="DEDFD4"/>
            </a:solidFill>
            <a:prstDash val="solid"/>
          </a:ln>
        </p:spPr>
      </p:sp>
      <p:sp>
        <p:nvSpPr>
          <p:cNvPr id="12" name="Shape 8"/>
          <p:cNvSpPr/>
          <p:nvPr/>
        </p:nvSpPr>
        <p:spPr>
          <a:xfrm>
            <a:off x="3520440" y="1508760"/>
            <a:ext cx="457200" cy="457200"/>
          </a:xfrm>
          <a:prstGeom prst="ellipse">
            <a:avLst/>
          </a:prstGeom>
          <a:solidFill>
            <a:srgbClr val="426951"/>
          </a:solidFill>
          <a:ln w="12700">
            <a:solidFill>
              <a:srgbClr val="426951"/>
            </a:solidFill>
            <a:prstDash val="solid"/>
          </a:ln>
        </p:spPr>
      </p:sp>
      <p:pic>
        <p:nvPicPr>
          <p:cNvPr id="13" name="Image 2" descr="preencoded.png">    </p:cNvPr>
          <p:cNvPicPr>
            <a:picLocks noChangeAspect="1"/>
          </p:cNvPicPr>
          <p:nvPr/>
        </p:nvPicPr>
        <p:blipFill>
          <a:blip r:embed="rId3"/>
          <a:stretch>
            <a:fillRect/>
          </a:stretch>
        </p:blipFill>
        <p:spPr>
          <a:xfrm>
            <a:off x="3639312" y="1627632"/>
            <a:ext cx="219456" cy="219456"/>
          </a:xfrm>
          <a:prstGeom prst="rect">
            <a:avLst/>
          </a:prstGeom>
        </p:spPr>
      </p:pic>
      <p:sp>
        <p:nvSpPr>
          <p:cNvPr id="14" name="Text 9"/>
          <p:cNvSpPr txBox="1"/>
          <p:nvPr/>
        </p:nvSpPr>
        <p:spPr>
          <a:xfrm>
            <a:off x="3520440" y="2057400"/>
            <a:ext cx="2148840" cy="274320"/>
          </a:xfrm>
          <a:prstGeom prst="rect">
            <a:avLst/>
          </a:prstGeom>
          <a:noFill/>
          <a:ln/>
        </p:spPr>
        <p:txBody>
          <a:bodyPr wrap="square" lIns="0" tIns="0" rIns="0" bIns="0" rtlCol="0" anchor="t"/>
          <a:lstStyle/>
          <a:p>
            <a:pPr indent="0" marL="0">
              <a:buNone/>
            </a:pPr>
            <a:r>
              <a:rPr lang="en-US" sz="1300" b="1" dirty="0">
                <a:solidFill>
                  <a:srgbClr val="203A44"/>
                </a:solidFill>
                <a:latin typeface="Calibri" pitchFamily="34" charset="0"/>
                <a:ea typeface="Calibri" pitchFamily="34" charset="-122"/>
                <a:cs typeface="Calibri" pitchFamily="34" charset="-120"/>
              </a:rPr>
              <a:t>The lesson is a state machine</a:t>
            </a:r>
            <a:endParaRPr lang="en-US" sz="1300" dirty="0"/>
          </a:p>
        </p:txBody>
      </p:sp>
      <p:sp>
        <p:nvSpPr>
          <p:cNvPr id="15" name="Text 10"/>
          <p:cNvSpPr txBox="1"/>
          <p:nvPr/>
        </p:nvSpPr>
        <p:spPr>
          <a:xfrm>
            <a:off x="3520440" y="2313432"/>
            <a:ext cx="2148840" cy="274320"/>
          </a:xfrm>
          <a:prstGeom prst="rect">
            <a:avLst/>
          </a:prstGeom>
          <a:noFill/>
          <a:ln/>
        </p:spPr>
        <p:txBody>
          <a:bodyPr wrap="square" lIns="0" tIns="0" rIns="0" bIns="0" rtlCol="0" anchor="t"/>
          <a:lstStyle/>
          <a:p>
            <a:pPr indent="0" marL="0">
              <a:buNone/>
            </a:pPr>
            <a:r>
              <a:rPr lang="en-US" sz="1100" dirty="0">
                <a:solidFill>
                  <a:srgbClr val="5F6F76"/>
                </a:solidFill>
                <a:latin typeface="Calibri" pitchFamily="34" charset="0"/>
                <a:ea typeface="Calibri" pitchFamily="34" charset="-122"/>
                <a:cs typeface="Calibri" pitchFamily="34" charset="-120"/>
              </a:rPr>
              <a:t>The server decides what is allowed.</a:t>
            </a:r>
            <a:endParaRPr lang="en-US" sz="1100" dirty="0"/>
          </a:p>
        </p:txBody>
      </p:sp>
      <p:sp>
        <p:nvSpPr>
          <p:cNvPr id="16" name="Shape 11"/>
          <p:cNvSpPr/>
          <p:nvPr/>
        </p:nvSpPr>
        <p:spPr>
          <a:xfrm>
            <a:off x="6126480" y="1280160"/>
            <a:ext cx="2560320" cy="1325880"/>
          </a:xfrm>
          <a:prstGeom prst="roundRect">
            <a:avLst>
              <a:gd name="adj" fmla="val 8276"/>
            </a:avLst>
          </a:prstGeom>
          <a:solidFill>
            <a:srgbClr val="FFFFFF"/>
          </a:solidFill>
          <a:ln w="9525">
            <a:solidFill>
              <a:srgbClr val="DEDFD4"/>
            </a:solidFill>
            <a:prstDash val="solid"/>
          </a:ln>
        </p:spPr>
      </p:sp>
      <p:sp>
        <p:nvSpPr>
          <p:cNvPr id="17" name="Shape 12"/>
          <p:cNvSpPr/>
          <p:nvPr/>
        </p:nvSpPr>
        <p:spPr>
          <a:xfrm>
            <a:off x="6355080" y="1508760"/>
            <a:ext cx="457200" cy="457200"/>
          </a:xfrm>
          <a:prstGeom prst="ellipse">
            <a:avLst/>
          </a:prstGeom>
          <a:solidFill>
            <a:srgbClr val="426951"/>
          </a:solidFill>
          <a:ln w="12700">
            <a:solidFill>
              <a:srgbClr val="426951"/>
            </a:solidFill>
            <a:prstDash val="solid"/>
          </a:ln>
        </p:spPr>
      </p:sp>
      <p:pic>
        <p:nvPicPr>
          <p:cNvPr id="18" name="Image 3" descr="preencoded.png">    </p:cNvPr>
          <p:cNvPicPr>
            <a:picLocks noChangeAspect="1"/>
          </p:cNvPicPr>
          <p:nvPr/>
        </p:nvPicPr>
        <p:blipFill>
          <a:blip r:embed="rId4"/>
          <a:stretch>
            <a:fillRect/>
          </a:stretch>
        </p:blipFill>
        <p:spPr>
          <a:xfrm>
            <a:off x="6473952" y="1627632"/>
            <a:ext cx="219456" cy="219456"/>
          </a:xfrm>
          <a:prstGeom prst="rect">
            <a:avLst/>
          </a:prstGeom>
        </p:spPr>
      </p:pic>
      <p:sp>
        <p:nvSpPr>
          <p:cNvPr id="19" name="Text 13"/>
          <p:cNvSpPr txBox="1"/>
          <p:nvPr/>
        </p:nvSpPr>
        <p:spPr>
          <a:xfrm>
            <a:off x="6355080" y="2057400"/>
            <a:ext cx="2148840" cy="274320"/>
          </a:xfrm>
          <a:prstGeom prst="rect">
            <a:avLst/>
          </a:prstGeom>
          <a:noFill/>
          <a:ln/>
        </p:spPr>
        <p:txBody>
          <a:bodyPr wrap="square" lIns="0" tIns="0" rIns="0" bIns="0" rtlCol="0" anchor="t"/>
          <a:lstStyle/>
          <a:p>
            <a:pPr indent="0" marL="0">
              <a:buNone/>
            </a:pPr>
            <a:r>
              <a:rPr lang="en-US" sz="1300" b="1" dirty="0">
                <a:solidFill>
                  <a:srgbClr val="203A44"/>
                </a:solidFill>
                <a:latin typeface="Calibri" pitchFamily="34" charset="0"/>
                <a:ea typeface="Calibri" pitchFamily="34" charset="-122"/>
                <a:cs typeface="Calibri" pitchFamily="34" charset="-120"/>
              </a:rPr>
              <a:t>Reviewer and tutor must agree</a:t>
            </a:r>
            <a:endParaRPr lang="en-US" sz="1300" dirty="0"/>
          </a:p>
        </p:txBody>
      </p:sp>
      <p:sp>
        <p:nvSpPr>
          <p:cNvPr id="20" name="Text 14"/>
          <p:cNvSpPr txBox="1"/>
          <p:nvPr/>
        </p:nvSpPr>
        <p:spPr>
          <a:xfrm>
            <a:off x="6355080" y="2313432"/>
            <a:ext cx="2148840" cy="274320"/>
          </a:xfrm>
          <a:prstGeom prst="rect">
            <a:avLst/>
          </a:prstGeom>
          <a:noFill/>
          <a:ln/>
        </p:spPr>
        <p:txBody>
          <a:bodyPr wrap="square" lIns="0" tIns="0" rIns="0" bIns="0" rtlCol="0" anchor="t"/>
          <a:lstStyle/>
          <a:p>
            <a:pPr indent="0" marL="0">
              <a:buNone/>
            </a:pPr>
            <a:r>
              <a:rPr lang="en-US" sz="1100" dirty="0">
                <a:solidFill>
                  <a:srgbClr val="5F6F76"/>
                </a:solidFill>
                <a:latin typeface="Calibri" pitchFamily="34" charset="0"/>
                <a:ea typeface="Calibri" pitchFamily="34" charset="-122"/>
                <a:cs typeface="Calibri" pitchFamily="34" charset="-120"/>
              </a:rPr>
              <a:t>Disagree? The turn is dropped.</a:t>
            </a:r>
            <a:endParaRPr lang="en-US" sz="1100" dirty="0"/>
          </a:p>
        </p:txBody>
      </p:sp>
      <p:sp>
        <p:nvSpPr>
          <p:cNvPr id="21" name="Shape 15"/>
          <p:cNvSpPr/>
          <p:nvPr/>
        </p:nvSpPr>
        <p:spPr>
          <a:xfrm>
            <a:off x="457200" y="2880360"/>
            <a:ext cx="2560320" cy="1325880"/>
          </a:xfrm>
          <a:prstGeom prst="roundRect">
            <a:avLst>
              <a:gd name="adj" fmla="val 8276"/>
            </a:avLst>
          </a:prstGeom>
          <a:solidFill>
            <a:srgbClr val="FFFFFF"/>
          </a:solidFill>
          <a:ln w="9525">
            <a:solidFill>
              <a:srgbClr val="DEDFD4"/>
            </a:solidFill>
            <a:prstDash val="solid"/>
          </a:ln>
        </p:spPr>
      </p:sp>
      <p:sp>
        <p:nvSpPr>
          <p:cNvPr id="22" name="Shape 16"/>
          <p:cNvSpPr/>
          <p:nvPr/>
        </p:nvSpPr>
        <p:spPr>
          <a:xfrm>
            <a:off x="685800" y="3108960"/>
            <a:ext cx="457200" cy="457200"/>
          </a:xfrm>
          <a:prstGeom prst="ellipse">
            <a:avLst/>
          </a:prstGeom>
          <a:solidFill>
            <a:srgbClr val="426951"/>
          </a:solidFill>
          <a:ln w="12700">
            <a:solidFill>
              <a:srgbClr val="426951"/>
            </a:solidFill>
            <a:prstDash val="solid"/>
          </a:ln>
        </p:spPr>
      </p:sp>
      <p:pic>
        <p:nvPicPr>
          <p:cNvPr id="23" name="Image 4" descr="preencoded.png">    </p:cNvPr>
          <p:cNvPicPr>
            <a:picLocks noChangeAspect="1"/>
          </p:cNvPicPr>
          <p:nvPr/>
        </p:nvPicPr>
        <p:blipFill>
          <a:blip r:embed="rId5"/>
          <a:stretch>
            <a:fillRect/>
          </a:stretch>
        </p:blipFill>
        <p:spPr>
          <a:xfrm>
            <a:off x="804672" y="3227832"/>
            <a:ext cx="219456" cy="219456"/>
          </a:xfrm>
          <a:prstGeom prst="rect">
            <a:avLst/>
          </a:prstGeom>
        </p:spPr>
      </p:pic>
      <p:sp>
        <p:nvSpPr>
          <p:cNvPr id="24" name="Text 17"/>
          <p:cNvSpPr txBox="1"/>
          <p:nvPr/>
        </p:nvSpPr>
        <p:spPr>
          <a:xfrm>
            <a:off x="685800" y="3657600"/>
            <a:ext cx="2148840" cy="274320"/>
          </a:xfrm>
          <a:prstGeom prst="rect">
            <a:avLst/>
          </a:prstGeom>
          <a:noFill/>
          <a:ln/>
        </p:spPr>
        <p:txBody>
          <a:bodyPr wrap="square" lIns="0" tIns="0" rIns="0" bIns="0" rtlCol="0" anchor="t"/>
          <a:lstStyle/>
          <a:p>
            <a:pPr indent="0" marL="0">
              <a:buNone/>
            </a:pPr>
            <a:r>
              <a:rPr lang="en-US" sz="1300" b="1" dirty="0">
                <a:solidFill>
                  <a:srgbClr val="203A44"/>
                </a:solidFill>
                <a:latin typeface="Calibri" pitchFamily="34" charset="0"/>
                <a:ea typeface="Calibri" pitchFamily="34" charset="-122"/>
                <a:cs typeface="Calibri" pitchFamily="34" charset="-120"/>
              </a:rPr>
              <a:t>Plans fit the budget</a:t>
            </a:r>
            <a:endParaRPr lang="en-US" sz="1300" dirty="0"/>
          </a:p>
        </p:txBody>
      </p:sp>
      <p:sp>
        <p:nvSpPr>
          <p:cNvPr id="25" name="Text 18"/>
          <p:cNvSpPr txBox="1"/>
          <p:nvPr/>
        </p:nvSpPr>
        <p:spPr>
          <a:xfrm>
            <a:off x="685800" y="3913632"/>
            <a:ext cx="2148840" cy="274320"/>
          </a:xfrm>
          <a:prstGeom prst="rect">
            <a:avLst/>
          </a:prstGeom>
          <a:noFill/>
          <a:ln/>
        </p:spPr>
        <p:txBody>
          <a:bodyPr wrap="square" lIns="0" tIns="0" rIns="0" bIns="0" rtlCol="0" anchor="t"/>
          <a:lstStyle/>
          <a:p>
            <a:pPr indent="0" marL="0">
              <a:buNone/>
            </a:pPr>
            <a:r>
              <a:rPr lang="en-US" sz="1100" dirty="0">
                <a:solidFill>
                  <a:srgbClr val="5F6F76"/>
                </a:solidFill>
                <a:latin typeface="Calibri" pitchFamily="34" charset="0"/>
                <a:ea typeface="Calibri" pitchFamily="34" charset="-122"/>
                <a:cs typeface="Calibri" pitchFamily="34" charset="-120"/>
              </a:rPr>
              <a:t>Minutes never exceed your time.</a:t>
            </a:r>
            <a:endParaRPr lang="en-US" sz="1100" dirty="0"/>
          </a:p>
        </p:txBody>
      </p:sp>
      <p:sp>
        <p:nvSpPr>
          <p:cNvPr id="26" name="Shape 19"/>
          <p:cNvSpPr/>
          <p:nvPr/>
        </p:nvSpPr>
        <p:spPr>
          <a:xfrm>
            <a:off x="3291840" y="2880360"/>
            <a:ext cx="2560320" cy="1325880"/>
          </a:xfrm>
          <a:prstGeom prst="roundRect">
            <a:avLst>
              <a:gd name="adj" fmla="val 8276"/>
            </a:avLst>
          </a:prstGeom>
          <a:solidFill>
            <a:srgbClr val="FFFFFF"/>
          </a:solidFill>
          <a:ln w="9525">
            <a:solidFill>
              <a:srgbClr val="DEDFD4"/>
            </a:solidFill>
            <a:prstDash val="solid"/>
          </a:ln>
        </p:spPr>
      </p:sp>
      <p:sp>
        <p:nvSpPr>
          <p:cNvPr id="27" name="Shape 20"/>
          <p:cNvSpPr/>
          <p:nvPr/>
        </p:nvSpPr>
        <p:spPr>
          <a:xfrm>
            <a:off x="3520440" y="3108960"/>
            <a:ext cx="457200" cy="457200"/>
          </a:xfrm>
          <a:prstGeom prst="ellipse">
            <a:avLst/>
          </a:prstGeom>
          <a:solidFill>
            <a:srgbClr val="426951"/>
          </a:solidFill>
          <a:ln w="12700">
            <a:solidFill>
              <a:srgbClr val="426951"/>
            </a:solidFill>
            <a:prstDash val="solid"/>
          </a:ln>
        </p:spPr>
      </p:sp>
      <p:pic>
        <p:nvPicPr>
          <p:cNvPr id="28" name="Image 5" descr="preencoded.png">    </p:cNvPr>
          <p:cNvPicPr>
            <a:picLocks noChangeAspect="1"/>
          </p:cNvPicPr>
          <p:nvPr/>
        </p:nvPicPr>
        <p:blipFill>
          <a:blip r:embed="rId6"/>
          <a:stretch>
            <a:fillRect/>
          </a:stretch>
        </p:blipFill>
        <p:spPr>
          <a:xfrm>
            <a:off x="3639312" y="3227832"/>
            <a:ext cx="219456" cy="219456"/>
          </a:xfrm>
          <a:prstGeom prst="rect">
            <a:avLst/>
          </a:prstGeom>
        </p:spPr>
      </p:pic>
      <p:sp>
        <p:nvSpPr>
          <p:cNvPr id="29" name="Text 21"/>
          <p:cNvSpPr txBox="1"/>
          <p:nvPr/>
        </p:nvSpPr>
        <p:spPr>
          <a:xfrm>
            <a:off x="3520440" y="3657600"/>
            <a:ext cx="2148840" cy="274320"/>
          </a:xfrm>
          <a:prstGeom prst="rect">
            <a:avLst/>
          </a:prstGeom>
          <a:noFill/>
          <a:ln/>
        </p:spPr>
        <p:txBody>
          <a:bodyPr wrap="square" lIns="0" tIns="0" rIns="0" bIns="0" rtlCol="0" anchor="t"/>
          <a:lstStyle/>
          <a:p>
            <a:pPr indent="0" marL="0">
              <a:buNone/>
            </a:pPr>
            <a:r>
              <a:rPr lang="en-US" sz="1300" b="1" dirty="0">
                <a:solidFill>
                  <a:srgbClr val="203A44"/>
                </a:solidFill>
                <a:latin typeface="Calibri" pitchFamily="34" charset="0"/>
                <a:ea typeface="Calibri" pitchFamily="34" charset="-122"/>
                <a:cs typeface="Calibri" pitchFamily="34" charset="-120"/>
              </a:rPr>
              <a:t>Read-only</a:t>
            </a:r>
            <a:endParaRPr lang="en-US" sz="1300" dirty="0"/>
          </a:p>
        </p:txBody>
      </p:sp>
      <p:sp>
        <p:nvSpPr>
          <p:cNvPr id="30" name="Text 22"/>
          <p:cNvSpPr txBox="1"/>
          <p:nvPr/>
        </p:nvSpPr>
        <p:spPr>
          <a:xfrm>
            <a:off x="3520440" y="3913632"/>
            <a:ext cx="2148840" cy="274320"/>
          </a:xfrm>
          <a:prstGeom prst="rect">
            <a:avLst/>
          </a:prstGeom>
          <a:noFill/>
          <a:ln/>
        </p:spPr>
        <p:txBody>
          <a:bodyPr wrap="square" lIns="0" tIns="0" rIns="0" bIns="0" rtlCol="0" anchor="t"/>
          <a:lstStyle/>
          <a:p>
            <a:pPr indent="0" marL="0">
              <a:buNone/>
            </a:pPr>
            <a:r>
              <a:rPr lang="en-US" sz="1100" dirty="0">
                <a:solidFill>
                  <a:srgbClr val="5F6F76"/>
                </a:solidFill>
                <a:latin typeface="Calibri" pitchFamily="34" charset="0"/>
                <a:ea typeface="Calibri" pitchFamily="34" charset="-122"/>
                <a:cs typeface="Calibri" pitchFamily="34" charset="-120"/>
              </a:rPr>
              <a:t>Nothing written back. No grades.</a:t>
            </a:r>
            <a:endParaRPr lang="en-US" sz="1100" dirty="0"/>
          </a:p>
        </p:txBody>
      </p:sp>
      <p:sp>
        <p:nvSpPr>
          <p:cNvPr id="31" name="Shape 23"/>
          <p:cNvSpPr/>
          <p:nvPr/>
        </p:nvSpPr>
        <p:spPr>
          <a:xfrm>
            <a:off x="6126480" y="2880360"/>
            <a:ext cx="2560320" cy="1325880"/>
          </a:xfrm>
          <a:prstGeom prst="roundRect">
            <a:avLst>
              <a:gd name="adj" fmla="val 8276"/>
            </a:avLst>
          </a:prstGeom>
          <a:solidFill>
            <a:srgbClr val="FFFFFF"/>
          </a:solidFill>
          <a:ln w="9525">
            <a:solidFill>
              <a:srgbClr val="DEDFD4"/>
            </a:solidFill>
            <a:prstDash val="solid"/>
          </a:ln>
        </p:spPr>
      </p:sp>
      <p:sp>
        <p:nvSpPr>
          <p:cNvPr id="32" name="Shape 24"/>
          <p:cNvSpPr/>
          <p:nvPr/>
        </p:nvSpPr>
        <p:spPr>
          <a:xfrm>
            <a:off x="6355080" y="3108960"/>
            <a:ext cx="457200" cy="457200"/>
          </a:xfrm>
          <a:prstGeom prst="ellipse">
            <a:avLst/>
          </a:prstGeom>
          <a:solidFill>
            <a:srgbClr val="426951"/>
          </a:solidFill>
          <a:ln w="12700">
            <a:solidFill>
              <a:srgbClr val="426951"/>
            </a:solidFill>
            <a:prstDash val="solid"/>
          </a:ln>
        </p:spPr>
      </p:sp>
      <p:pic>
        <p:nvPicPr>
          <p:cNvPr id="33" name="Image 6" descr="preencoded.png">    </p:cNvPr>
          <p:cNvPicPr>
            <a:picLocks noChangeAspect="1"/>
          </p:cNvPicPr>
          <p:nvPr/>
        </p:nvPicPr>
        <p:blipFill>
          <a:blip r:embed="rId7"/>
          <a:stretch>
            <a:fillRect/>
          </a:stretch>
        </p:blipFill>
        <p:spPr>
          <a:xfrm>
            <a:off x="6473952" y="3227832"/>
            <a:ext cx="219456" cy="219456"/>
          </a:xfrm>
          <a:prstGeom prst="rect">
            <a:avLst/>
          </a:prstGeom>
        </p:spPr>
      </p:pic>
      <p:sp>
        <p:nvSpPr>
          <p:cNvPr id="34" name="Text 25"/>
          <p:cNvSpPr txBox="1"/>
          <p:nvPr/>
        </p:nvSpPr>
        <p:spPr>
          <a:xfrm>
            <a:off x="6355080" y="3657600"/>
            <a:ext cx="2148840" cy="274320"/>
          </a:xfrm>
          <a:prstGeom prst="rect">
            <a:avLst/>
          </a:prstGeom>
          <a:noFill/>
          <a:ln/>
        </p:spPr>
        <p:txBody>
          <a:bodyPr wrap="square" lIns="0" tIns="0" rIns="0" bIns="0" rtlCol="0" anchor="t"/>
          <a:lstStyle/>
          <a:p>
            <a:pPr indent="0" marL="0">
              <a:buNone/>
            </a:pPr>
            <a:r>
              <a:rPr lang="en-US" sz="1300" b="1" dirty="0">
                <a:solidFill>
                  <a:srgbClr val="203A44"/>
                </a:solidFill>
                <a:latin typeface="Calibri" pitchFamily="34" charset="0"/>
                <a:ea typeface="Calibri" pitchFamily="34" charset="-122"/>
                <a:cs typeface="Calibri" pitchFamily="34" charset="-120"/>
              </a:rPr>
              <a:t>Documents are data</a:t>
            </a:r>
            <a:endParaRPr lang="en-US" sz="1300" dirty="0"/>
          </a:p>
        </p:txBody>
      </p:sp>
      <p:sp>
        <p:nvSpPr>
          <p:cNvPr id="35" name="Text 26"/>
          <p:cNvSpPr txBox="1"/>
          <p:nvPr/>
        </p:nvSpPr>
        <p:spPr>
          <a:xfrm>
            <a:off x="6355080" y="3913632"/>
            <a:ext cx="2148840" cy="274320"/>
          </a:xfrm>
          <a:prstGeom prst="rect">
            <a:avLst/>
          </a:prstGeom>
          <a:noFill/>
          <a:ln/>
        </p:spPr>
        <p:txBody>
          <a:bodyPr wrap="square" lIns="0" tIns="0" rIns="0" bIns="0" rtlCol="0" anchor="t"/>
          <a:lstStyle/>
          <a:p>
            <a:pPr indent="0" marL="0">
              <a:buNone/>
            </a:pPr>
            <a:r>
              <a:rPr lang="en-US" sz="1100" dirty="0">
                <a:solidFill>
                  <a:srgbClr val="5F6F76"/>
                </a:solidFill>
                <a:latin typeface="Calibri" pitchFamily="34" charset="0"/>
                <a:ea typeface="Calibri" pitchFamily="34" charset="-122"/>
                <a:cs typeface="Calibri" pitchFamily="34" charset="-120"/>
              </a:rPr>
              <a:t>Notes cannot hijack the tutor.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AF4"/>
        </a:solidFill>
      </p:bgPr>
    </p:bg>
    <p:spTree>
      <p:nvGrpSpPr>
        <p:cNvPr id="1" name=""/>
        <p:cNvGrpSpPr/>
        <p:nvPr/>
      </p:nvGrpSpPr>
      <p:grpSpPr>
        <a:xfrm>
          <a:off x="0" y="0"/>
          <a:ext cx="0" cy="0"/>
          <a:chOff x="0" y="0"/>
          <a:chExt cx="0" cy="0"/>
        </a:xfrm>
      </p:grpSpPr>
      <p:pic>
        <p:nvPicPr>
          <p:cNvPr id="2" name="Image 0" descr="/Users/chaipinzheng/Dev/agents-everywhere-2026/.claude/worktrees/agent-integration-slides-f8af74/assets/devpost/afterclass-icon.png">    </p:cNvPr>
          <p:cNvPicPr>
            <a:picLocks noChangeAspect="1"/>
          </p:cNvPicPr>
          <p:nvPr/>
        </p:nvPicPr>
        <p:blipFill>
          <a:blip r:embed="rId1"/>
          <a:stretch>
            <a:fillRect/>
          </a:stretch>
        </p:blipFill>
        <p:spPr>
          <a:xfrm>
            <a:off x="457200" y="4690872"/>
            <a:ext cx="256032" cy="256032"/>
          </a:xfrm>
          <a:prstGeom prst="rect">
            <a:avLst/>
          </a:prstGeom>
        </p:spPr>
      </p:pic>
      <p:sp>
        <p:nvSpPr>
          <p:cNvPr id="3" name="Text 0"/>
          <p:cNvSpPr txBox="1"/>
          <p:nvPr/>
        </p:nvSpPr>
        <p:spPr>
          <a:xfrm>
            <a:off x="777240" y="4690872"/>
            <a:ext cx="1828800" cy="256032"/>
          </a:xfrm>
          <a:prstGeom prst="rect">
            <a:avLst/>
          </a:prstGeom>
          <a:noFill/>
          <a:ln/>
        </p:spPr>
        <p:txBody>
          <a:bodyPr wrap="square" lIns="0" tIns="0" rIns="0" bIns="0" rtlCol="0" anchor="ctr"/>
          <a:lstStyle/>
          <a:p>
            <a:pPr indent="0" marL="0">
              <a:buNone/>
            </a:pPr>
            <a:r>
              <a:rPr lang="en-US" sz="900" dirty="0">
                <a:solidFill>
                  <a:srgbClr val="5F6F76"/>
                </a:solidFill>
                <a:latin typeface="Calibri" pitchFamily="34" charset="0"/>
                <a:ea typeface="Calibri" pitchFamily="34" charset="-122"/>
                <a:cs typeface="Calibri" pitchFamily="34" charset="-120"/>
              </a:rPr>
              <a:t>Afterclass</a:t>
            </a:r>
            <a:endParaRPr lang="en-US" sz="900" dirty="0"/>
          </a:p>
        </p:txBody>
      </p:sp>
      <p:sp>
        <p:nvSpPr>
          <p:cNvPr id="4" name="Text 1"/>
          <p:cNvSpPr txBox="1"/>
          <p:nvPr/>
        </p:nvSpPr>
        <p:spPr>
          <a:xfrm>
            <a:off x="7955280" y="4690872"/>
            <a:ext cx="731520" cy="256032"/>
          </a:xfrm>
          <a:prstGeom prst="rect">
            <a:avLst/>
          </a:prstGeom>
          <a:noFill/>
          <a:ln/>
        </p:spPr>
        <p:txBody>
          <a:bodyPr wrap="square" lIns="0" tIns="0" rIns="0" bIns="0" rtlCol="0" anchor="ctr"/>
          <a:lstStyle/>
          <a:p>
            <a:pPr algn="r" indent="0" marL="0">
              <a:buNone/>
            </a:pPr>
            <a:r>
              <a:rPr lang="en-US" sz="900" dirty="0">
                <a:solidFill>
                  <a:srgbClr val="5F6F76"/>
                </a:solidFill>
                <a:latin typeface="Calibri" pitchFamily="34" charset="0"/>
                <a:ea typeface="Calibri" pitchFamily="34" charset="-122"/>
                <a:cs typeface="Calibri" pitchFamily="34" charset="-120"/>
              </a:rPr>
              <a:t>09</a:t>
            </a:r>
            <a:endParaRPr lang="en-US" sz="900" dirty="0"/>
          </a:p>
        </p:txBody>
      </p:sp>
      <p:sp>
        <p:nvSpPr>
          <p:cNvPr id="5" name="Text 2"/>
          <p:cNvSpPr txBox="1"/>
          <p:nvPr/>
        </p:nvSpPr>
        <p:spPr>
          <a:xfrm>
            <a:off x="457200" y="384048"/>
            <a:ext cx="8229600" cy="685800"/>
          </a:xfrm>
          <a:prstGeom prst="rect">
            <a:avLst/>
          </a:prstGeom>
          <a:noFill/>
          <a:ln/>
        </p:spPr>
        <p:txBody>
          <a:bodyPr wrap="square" lIns="0" tIns="0" rIns="0" bIns="0" rtlCol="0" anchor="ctr"/>
          <a:lstStyle/>
          <a:p>
            <a:pPr indent="0" marL="0">
              <a:buNone/>
            </a:pPr>
            <a:r>
              <a:rPr lang="en-US" sz="2800" dirty="0">
                <a:solidFill>
                  <a:srgbClr val="203A44"/>
                </a:solidFill>
                <a:latin typeface="Georgia" pitchFamily="34" charset="0"/>
                <a:ea typeface="Georgia" pitchFamily="34" charset="-122"/>
                <a:cs typeface="Georgia" pitchFamily="34" charset="-120"/>
              </a:rPr>
              <a:t>Where this goes next</a:t>
            </a:r>
            <a:endParaRPr lang="en-US" sz="2800" dirty="0"/>
          </a:p>
        </p:txBody>
      </p:sp>
      <p:sp>
        <p:nvSpPr>
          <p:cNvPr id="6" name="Text 3"/>
          <p:cNvSpPr txBox="1"/>
          <p:nvPr/>
        </p:nvSpPr>
        <p:spPr>
          <a:xfrm>
            <a:off x="457200" y="1325880"/>
            <a:ext cx="4846320" cy="22860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03A44"/>
                </a:solidFill>
                <a:latin typeface="Calibri" pitchFamily="34" charset="0"/>
                <a:ea typeface="Calibri" pitchFamily="34" charset="-122"/>
                <a:cs typeface="Calibri" pitchFamily="34" charset="-120"/>
              </a:rPr>
              <a:t>Teacher-installed Classroom add-on</a:t>
            </a:r>
            <a:endParaRPr lang="en-US" sz="1600" dirty="0"/>
          </a:p>
          <a:p>
            <a:pPr marL="342900" indent="-342900">
              <a:spcAft>
                <a:spcPts val="1200"/>
              </a:spcAft>
              <a:buSzPct val="100000"/>
              <a:buChar char="•"/>
            </a:pPr>
            <a:r>
              <a:rPr lang="en-US" sz="1600" dirty="0">
                <a:solidFill>
                  <a:srgbClr val="203A44"/>
                </a:solidFill>
                <a:latin typeface="Calibri" pitchFamily="34" charset="0"/>
                <a:ea typeface="Calibri" pitchFamily="34" charset="-122"/>
                <a:cs typeface="Calibri" pitchFamily="34" charset="-120"/>
              </a:rPr>
              <a:t>More subjects. Maths and physics notes are ready.</a:t>
            </a:r>
            <a:endParaRPr lang="en-US" sz="1600" dirty="0"/>
          </a:p>
          <a:p>
            <a:pPr marL="342900" indent="-342900">
              <a:spcAft>
                <a:spcPts val="1200"/>
              </a:spcAft>
              <a:buSzPct val="100000"/>
              <a:buChar char="•"/>
            </a:pPr>
            <a:r>
              <a:rPr lang="en-US" sz="1600" dirty="0">
                <a:solidFill>
                  <a:srgbClr val="203A44"/>
                </a:solidFill>
                <a:latin typeface="Calibri" pitchFamily="34" charset="0"/>
                <a:ea typeface="Calibri" pitchFamily="34" charset="-122"/>
                <a:cs typeface="Calibri" pitchFamily="34" charset="-120"/>
              </a:rPr>
              <a:t>Evidence teachers can see, with consent</a:t>
            </a:r>
            <a:endParaRPr lang="en-US" sz="1600" dirty="0"/>
          </a:p>
          <a:p>
            <a:pPr marL="342900" indent="-342900">
              <a:spcAft>
                <a:spcPts val="1200"/>
              </a:spcAft>
              <a:buSzPct val="100000"/>
              <a:buChar char="•"/>
            </a:pPr>
            <a:r>
              <a:rPr lang="en-US" sz="1600" dirty="0">
                <a:solidFill>
                  <a:srgbClr val="203A44"/>
                </a:solidFill>
                <a:latin typeface="Calibri" pitchFamily="34" charset="0"/>
                <a:ea typeface="Calibri" pitchFamily="34" charset="-122"/>
                <a:cs typeface="Calibri" pitchFamily="34" charset="-120"/>
              </a:rPr>
              <a:t>A five-minute Catch Up on the bus</a:t>
            </a:r>
            <a:endParaRPr lang="en-US" sz="1600" dirty="0"/>
          </a:p>
        </p:txBody>
      </p:sp>
      <p:sp>
        <p:nvSpPr>
          <p:cNvPr id="7" name="Text 4"/>
          <p:cNvSpPr txBox="1"/>
          <p:nvPr/>
        </p:nvSpPr>
        <p:spPr>
          <a:xfrm>
            <a:off x="457200" y="3886200"/>
            <a:ext cx="4846320" cy="365760"/>
          </a:xfrm>
          <a:prstGeom prst="rect">
            <a:avLst/>
          </a:prstGeom>
          <a:noFill/>
          <a:ln/>
        </p:spPr>
        <p:txBody>
          <a:bodyPr wrap="square" lIns="0" tIns="0" rIns="0" bIns="0" rtlCol="0" anchor="t"/>
          <a:lstStyle/>
          <a:p>
            <a:pPr indent="0" marL="0">
              <a:buNone/>
            </a:pPr>
            <a:r>
              <a:rPr lang="en-US" sz="1300" i="1" dirty="0">
                <a:solidFill>
                  <a:srgbClr val="5F6F76"/>
                </a:solidFill>
                <a:latin typeface="Calibri" pitchFamily="34" charset="0"/>
                <a:ea typeface="Calibri" pitchFamily="34" charset="-122"/>
                <a:cs typeface="Calibri" pitchFamily="34" charset="-120"/>
              </a:rPr>
              <a:t>Not today: grading, turn-in, dashboards.</a:t>
            </a:r>
            <a:endParaRPr lang="en-US" sz="1300" dirty="0"/>
          </a:p>
        </p:txBody>
      </p:sp>
      <p:pic>
        <p:nvPicPr>
          <p:cNvPr id="8" name="Image 1" descr="/Users/chaipinzheng/Dev/agents-everywhere-2026/.claude/worktrees/agent-integration-slides-f8af74/assets/afterclass/ready-to-study.png">    </p:cNvPr>
          <p:cNvPicPr>
            <a:picLocks noChangeAspect="1"/>
          </p:cNvPicPr>
          <p:nvPr/>
        </p:nvPicPr>
        <p:blipFill>
          <a:blip r:embed="rId2"/>
          <a:stretch>
            <a:fillRect/>
          </a:stretch>
        </p:blipFill>
        <p:spPr>
          <a:xfrm>
            <a:off x="5623560" y="1097280"/>
            <a:ext cx="3063240" cy="3063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03A44"/>
        </a:solidFill>
      </p:bgPr>
    </p:bg>
    <p:spTree>
      <p:nvGrpSpPr>
        <p:cNvPr id="1" name=""/>
        <p:cNvGrpSpPr/>
        <p:nvPr/>
      </p:nvGrpSpPr>
      <p:grpSpPr>
        <a:xfrm>
          <a:off x="0" y="0"/>
          <a:ext cx="0" cy="0"/>
          <a:chOff x="0" y="0"/>
          <a:chExt cx="0" cy="0"/>
        </a:xfrm>
      </p:grpSpPr>
      <p:sp>
        <p:nvSpPr>
          <p:cNvPr id="2" name="Shape 0"/>
          <p:cNvSpPr/>
          <p:nvPr/>
        </p:nvSpPr>
        <p:spPr>
          <a:xfrm>
            <a:off x="548640" y="548640"/>
            <a:ext cx="658368" cy="658368"/>
          </a:xfrm>
          <a:prstGeom prst="roundRect">
            <a:avLst>
              <a:gd name="adj" fmla="val 18000"/>
            </a:avLst>
          </a:prstGeom>
          <a:solidFill>
            <a:srgbClr val="FCFAF4"/>
          </a:solidFill>
          <a:ln w="12700">
            <a:solidFill>
              <a:srgbClr val="FCFAF4"/>
            </a:solidFill>
            <a:prstDash val="solid"/>
          </a:ln>
        </p:spPr>
      </p:sp>
      <p:pic>
        <p:nvPicPr>
          <p:cNvPr id="3" name="Image 0" descr="/Users/chaipinzheng/Dev/agents-everywhere-2026/.claude/worktrees/agent-integration-slides-f8af74/assets/devpost/afterclass-icon.png">    </p:cNvPr>
          <p:cNvPicPr>
            <a:picLocks noChangeAspect="1"/>
          </p:cNvPicPr>
          <p:nvPr/>
        </p:nvPicPr>
        <p:blipFill>
          <a:blip r:embed="rId1"/>
          <a:stretch>
            <a:fillRect/>
          </a:stretch>
        </p:blipFill>
        <p:spPr>
          <a:xfrm>
            <a:off x="627644" y="627644"/>
            <a:ext cx="500360" cy="500360"/>
          </a:xfrm>
          <a:prstGeom prst="rect">
            <a:avLst/>
          </a:prstGeom>
        </p:spPr>
      </p:pic>
      <p:sp>
        <p:nvSpPr>
          <p:cNvPr id="4" name="Text 1"/>
          <p:cNvSpPr txBox="1"/>
          <p:nvPr/>
        </p:nvSpPr>
        <p:spPr>
          <a:xfrm>
            <a:off x="1371600" y="548640"/>
            <a:ext cx="3291840" cy="658368"/>
          </a:xfrm>
          <a:prstGeom prst="rect">
            <a:avLst/>
          </a:prstGeom>
          <a:noFill/>
          <a:ln/>
        </p:spPr>
        <p:txBody>
          <a:bodyPr wrap="square" lIns="0" tIns="0" rIns="0" bIns="0" rtlCol="0" anchor="ctr"/>
          <a:lstStyle/>
          <a:p>
            <a:pPr indent="0" marL="0">
              <a:buNone/>
            </a:pPr>
            <a:r>
              <a:rPr lang="en-US" sz="2400" dirty="0">
                <a:solidFill>
                  <a:srgbClr val="FCFAF4"/>
                </a:solidFill>
                <a:latin typeface="Georgia" pitchFamily="34" charset="0"/>
                <a:ea typeface="Georgia" pitchFamily="34" charset="-122"/>
                <a:cs typeface="Georgia" pitchFamily="34" charset="-120"/>
              </a:rPr>
              <a:t>Afterclass</a:t>
            </a:r>
            <a:endParaRPr lang="en-US" sz="2400" dirty="0"/>
          </a:p>
        </p:txBody>
      </p:sp>
      <p:sp>
        <p:nvSpPr>
          <p:cNvPr id="5" name="Text 2"/>
          <p:cNvSpPr txBox="1"/>
          <p:nvPr/>
        </p:nvSpPr>
        <p:spPr>
          <a:xfrm>
            <a:off x="548640" y="1508760"/>
            <a:ext cx="8046720" cy="1371600"/>
          </a:xfrm>
          <a:prstGeom prst="rect">
            <a:avLst/>
          </a:prstGeom>
          <a:noFill/>
          <a:ln/>
        </p:spPr>
        <p:txBody>
          <a:bodyPr wrap="square" lIns="0" tIns="0" rIns="0" bIns="0" rtlCol="0" anchor="t"/>
          <a:lstStyle/>
          <a:p>
            <a:pPr indent="0" marL="0">
              <a:buNone/>
            </a:pPr>
            <a:r>
              <a:rPr lang="en-US" sz="3600" dirty="0">
                <a:solidFill>
                  <a:srgbClr val="FCFAF4"/>
                </a:solidFill>
                <a:latin typeface="Georgia" pitchFamily="34" charset="0"/>
                <a:ea typeface="Georgia" pitchFamily="34" charset="-122"/>
                <a:cs typeface="Georgia" pitchFamily="34" charset="-120"/>
              </a:rPr>
              <a:t>Your notes. Your pace. Your next breakthrough.</a:t>
            </a:r>
            <a:endParaRPr lang="en-US" sz="3600" dirty="0"/>
          </a:p>
        </p:txBody>
      </p:sp>
      <p:sp>
        <p:nvSpPr>
          <p:cNvPr id="6" name="Text 3"/>
          <p:cNvSpPr txBox="1"/>
          <p:nvPr/>
        </p:nvSpPr>
        <p:spPr>
          <a:xfrm>
            <a:off x="548640" y="2971800"/>
            <a:ext cx="8046720" cy="411480"/>
          </a:xfrm>
          <a:prstGeom prst="rect">
            <a:avLst/>
          </a:prstGeom>
          <a:noFill/>
          <a:ln/>
        </p:spPr>
        <p:txBody>
          <a:bodyPr wrap="square" lIns="0" tIns="0" rIns="0" bIns="0" rtlCol="0" anchor="t"/>
          <a:lstStyle/>
          <a:p>
            <a:pPr indent="0" marL="0">
              <a:buNone/>
            </a:pPr>
            <a:r>
              <a:rPr lang="en-US" sz="1600" dirty="0">
                <a:solidFill>
                  <a:srgbClr val="E9EDDF"/>
                </a:solidFill>
                <a:latin typeface="Calibri" pitchFamily="34" charset="0"/>
                <a:ea typeface="Calibri" pitchFamily="34" charset="-122"/>
                <a:cs typeface="Calibri" pitchFamily="34" charset="-120"/>
              </a:rPr>
              <a:t>An AI teacher inside Google Classroom.</a:t>
            </a:r>
            <a:endParaRPr lang="en-US" sz="1600" dirty="0"/>
          </a:p>
        </p:txBody>
      </p:sp>
      <p:sp>
        <p:nvSpPr>
          <p:cNvPr id="7" name="Text 4"/>
          <p:cNvSpPr txBox="1"/>
          <p:nvPr/>
        </p:nvSpPr>
        <p:spPr>
          <a:xfrm>
            <a:off x="548640" y="3566160"/>
            <a:ext cx="8046720" cy="365760"/>
          </a:xfrm>
          <a:prstGeom prst="rect">
            <a:avLst/>
          </a:prstGeom>
          <a:noFill/>
          <a:ln/>
        </p:spPr>
        <p:txBody>
          <a:bodyPr wrap="square" lIns="0" tIns="0" rIns="0" bIns="0" rtlCol="0" anchor="t"/>
          <a:lstStyle/>
          <a:p>
            <a:pPr indent="0" marL="0">
              <a:buNone/>
            </a:pPr>
            <a:r>
              <a:rPr lang="en-US" sz="1400" dirty="0">
                <a:solidFill>
                  <a:srgbClr val="AD762E"/>
                </a:solidFill>
                <a:latin typeface="Calibri" pitchFamily="34" charset="0"/>
                <a:ea typeface="Calibri" pitchFamily="34" charset="-122"/>
                <a:cs typeface="Calibri" pitchFamily="34" charset="-120"/>
              </a:rPr>
              <a:t>github.com/EdmundLimBoEn/agents-everywhere-2026</a:t>
            </a:r>
            <a:endParaRPr lang="en-US" sz="1400" dirty="0"/>
          </a:p>
        </p:txBody>
      </p:sp>
      <p:sp>
        <p:nvSpPr>
          <p:cNvPr id="8" name="Text 5"/>
          <p:cNvSpPr txBox="1"/>
          <p:nvPr/>
        </p:nvSpPr>
        <p:spPr>
          <a:xfrm>
            <a:off x="548640" y="4206240"/>
            <a:ext cx="8046720" cy="365760"/>
          </a:xfrm>
          <a:prstGeom prst="rect">
            <a:avLst/>
          </a:prstGeom>
          <a:noFill/>
          <a:ln/>
        </p:spPr>
        <p:txBody>
          <a:bodyPr wrap="square" lIns="0" tIns="0" rIns="0" bIns="0" rtlCol="0" anchor="t"/>
          <a:lstStyle/>
          <a:p>
            <a:pPr indent="0" marL="0">
              <a:buNone/>
            </a:pPr>
            <a:r>
              <a:rPr lang="en-US" sz="1150" dirty="0">
                <a:solidFill>
                  <a:srgbClr val="E9EDDF"/>
                </a:solidFill>
                <a:latin typeface="Calibri" pitchFamily="34" charset="0"/>
                <a:ea typeface="Calibri" pitchFamily="34" charset="-122"/>
                <a:cs typeface="Calibri" pitchFamily="34" charset="-120"/>
              </a:rPr>
              <a:t>Chai Pin Zheng  ·  Edmund Lim Bo En  ·  Son Tung Le  ·  Agents, Everywhere · Singapore · 12 September 2026</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Afterclass — an AI teacher inside Google Classroom</dc:title>
  <dc:subject>PptxGenJS Presentation</dc:subject>
  <dc:creator>Afterclass team</dc:creator>
  <cp:lastModifiedBy>Afterclass team</cp:lastModifiedBy>
  <cp:revision>1</cp:revision>
  <dcterms:created xsi:type="dcterms:W3CDTF">2026-09-12T07:05:20Z</dcterms:created>
  <dcterms:modified xsi:type="dcterms:W3CDTF">2026-09-12T07:05:20Z</dcterms:modified>
</cp:coreProperties>
</file>